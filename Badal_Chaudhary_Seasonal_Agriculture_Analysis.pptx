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7"/>
          </a:solidFill>
          <a:ln>
            <a:solidFill>
              <a:srgbClr val="0F2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B7A5C"/>
          </a:solidFill>
          <a:ln>
            <a:solidFill>
              <a:srgbClr val="2B7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515600" cy="59436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Seasonal Agriculture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19072"/>
            <a:ext cx="10515600" cy="59436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3400" b="1">
                <a:solidFill>
                  <a:srgbClr val="B1DCC5"/>
                </a:solidFill>
                <a:latin typeface="Aptos"/>
              </a:rPr>
              <a:t>Performance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2606040"/>
            <a:ext cx="9875520" cy="3840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ptos"/>
              </a:rPr>
              <a:t>Data-driven insights across seasons, crops, irrigation, yield and profitability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" y="3977639"/>
            <a:ext cx="4206240" cy="1051560"/>
          </a:xfrm>
          <a:prstGeom prst="roundRect">
            <a:avLst>
              <a:gd name="adj" fmla="val 12000"/>
            </a:avLst>
          </a:prstGeom>
          <a:solidFill>
            <a:srgbClr val="1B4065"/>
          </a:solidFill>
          <a:ln>
            <a:solidFill>
              <a:srgbClr val="375F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4187952"/>
            <a:ext cx="3749039" cy="2560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000" b="1">
                <a:solidFill>
                  <a:srgbClr val="B1DCC5"/>
                </a:solidFill>
                <a:latin typeface="Aptos"/>
              </a:rPr>
              <a:t>PREPARED BY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4480560"/>
            <a:ext cx="3749039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BADAL CHAUDHARY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4846320"/>
            <a:ext cx="3749039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Roll No.: STU6a30b8115dd5c1781577745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6144768"/>
            <a:ext cx="5486400" cy="2286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100" b="0">
                <a:solidFill>
                  <a:srgbClr val="D2E0E9"/>
                </a:solidFill>
                <a:latin typeface="Aptos"/>
              </a:rPr>
              <a:t>Python • Pandas • Streamlit • Jupyter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B7A5C"/>
          </a:solidFill>
          <a:ln>
            <a:solidFill>
              <a:srgbClr val="2B7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051560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600" b="1">
                <a:solidFill>
                  <a:srgbClr val="0F2747"/>
                </a:solidFill>
                <a:latin typeface="Aptos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60704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100" b="0">
                <a:solidFill>
                  <a:srgbClr val="637180"/>
                </a:solidFill>
                <a:latin typeface="Aptos"/>
              </a:rPr>
              <a:t>What the analysis says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84048"/>
            <a:ext cx="50292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/>
            <a:r>
              <a:rPr sz="1200" b="1">
                <a:solidFill>
                  <a:srgbClr val="2B7A5C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2423160" cy="1097280"/>
          </a:xfrm>
          <a:prstGeom prst="roundRect">
            <a:avLst>
              <a:gd name="adj" fmla="val 12000"/>
            </a:avLst>
          </a:prstGeom>
          <a:solidFill>
            <a:srgbClr val="EFF5F7"/>
          </a:solidFill>
          <a:ln>
            <a:solidFill>
              <a:srgbClr val="DC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234440"/>
            <a:ext cx="73152" cy="1097280"/>
          </a:xfrm>
          <a:prstGeom prst="rect">
            <a:avLst/>
          </a:prstGeom>
          <a:solidFill>
            <a:srgbClr val="2B7A5C"/>
          </a:solidFill>
          <a:ln>
            <a:solidFill>
              <a:srgbClr val="2B7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399032"/>
            <a:ext cx="2148840" cy="2560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900" b="1">
                <a:solidFill>
                  <a:srgbClr val="637180"/>
                </a:solidFill>
                <a:latin typeface="Aptos"/>
              </a:rPr>
              <a:t>RECORDS ANALYSED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1691640"/>
            <a:ext cx="2148840" cy="43891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200" b="1">
                <a:solidFill>
                  <a:srgbClr val="0F2747"/>
                </a:solidFill>
                <a:latin typeface="Aptos"/>
              </a:rPr>
              <a:t>120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234440"/>
            <a:ext cx="2423160" cy="1097280"/>
          </a:xfrm>
          <a:prstGeom prst="roundRect">
            <a:avLst>
              <a:gd name="adj" fmla="val 12000"/>
            </a:avLst>
          </a:prstGeom>
          <a:solidFill>
            <a:srgbClr val="EFF5F7"/>
          </a:solidFill>
          <a:ln>
            <a:solidFill>
              <a:srgbClr val="DC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1234440"/>
            <a:ext cx="73152" cy="1097280"/>
          </a:xfrm>
          <a:prstGeom prst="rect">
            <a:avLst/>
          </a:prstGeom>
          <a:solidFill>
            <a:srgbClr val="348F9E"/>
          </a:solidFill>
          <a:ln>
            <a:solidFill>
              <a:srgbClr val="348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02152" y="1399032"/>
            <a:ext cx="2148840" cy="2560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900" b="1">
                <a:solidFill>
                  <a:srgbClr val="637180"/>
                </a:solidFill>
                <a:latin typeface="Aptos"/>
              </a:rPr>
              <a:t>SEASONS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02152" y="1691640"/>
            <a:ext cx="2148840" cy="43891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200" b="1">
                <a:solidFill>
                  <a:srgbClr val="0F2747"/>
                </a:solidFill>
                <a:latin typeface="Aptos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89320" y="1234440"/>
            <a:ext cx="2423160" cy="1097280"/>
          </a:xfrm>
          <a:prstGeom prst="roundRect">
            <a:avLst>
              <a:gd name="adj" fmla="val 12000"/>
            </a:avLst>
          </a:prstGeom>
          <a:solidFill>
            <a:srgbClr val="EFF5F7"/>
          </a:solidFill>
          <a:ln>
            <a:solidFill>
              <a:srgbClr val="DC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89320" y="1234440"/>
            <a:ext cx="73152" cy="1097280"/>
          </a:xfrm>
          <a:prstGeom prst="rect">
            <a:avLst/>
          </a:prstGeom>
          <a:solidFill>
            <a:srgbClr val="E0A44A"/>
          </a:solidFill>
          <a:ln>
            <a:solidFill>
              <a:srgbClr val="E0A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53912" y="1399032"/>
            <a:ext cx="2148840" cy="2560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900" b="1">
                <a:solidFill>
                  <a:srgbClr val="637180"/>
                </a:solidFill>
                <a:latin typeface="Aptos"/>
              </a:rPr>
              <a:t>CROPS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53912" y="1691640"/>
            <a:ext cx="2148840" cy="43891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200" b="1">
                <a:solidFill>
                  <a:srgbClr val="0F2747"/>
                </a:solidFill>
                <a:latin typeface="Aptos"/>
              </a:rPr>
              <a:t>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41080" y="1234440"/>
            <a:ext cx="2423160" cy="1097280"/>
          </a:xfrm>
          <a:prstGeom prst="roundRect">
            <a:avLst>
              <a:gd name="adj" fmla="val 12000"/>
            </a:avLst>
          </a:prstGeom>
          <a:solidFill>
            <a:srgbClr val="EFF5F7"/>
          </a:solidFill>
          <a:ln>
            <a:solidFill>
              <a:srgbClr val="DC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641080" y="1234440"/>
            <a:ext cx="73152" cy="1097280"/>
          </a:xfrm>
          <a:prstGeom prst="rect">
            <a:avLst/>
          </a:prstGeom>
          <a:solidFill>
            <a:srgbClr val="C24A43"/>
          </a:solidFill>
          <a:ln>
            <a:solidFill>
              <a:srgbClr val="C24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05672" y="1399032"/>
            <a:ext cx="2148840" cy="2560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900" b="1">
                <a:solidFill>
                  <a:srgbClr val="637180"/>
                </a:solidFill>
                <a:latin typeface="Aptos"/>
              </a:rPr>
              <a:t>NEGATIVE-PROFIT ROWS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05672" y="1691640"/>
            <a:ext cx="2148840" cy="43891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200" b="1">
                <a:solidFill>
                  <a:srgbClr val="0F2747"/>
                </a:solidFill>
                <a:latin typeface="Aptos"/>
              </a:rPr>
              <a:t>21.67%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2743200"/>
            <a:ext cx="10515600" cy="2560320"/>
          </a:xfrm>
          <a:prstGeom prst="rect">
            <a:avLst/>
          </a:prstGeom>
          <a:noFill/>
        </p:spPr>
        <p:txBody>
          <a:bodyPr wrap="square" lIns="73152" rIns="54864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Zaid delivered the highest mean profit, closely followed by Kharif.</a:t>
            </a:r>
          </a:p>
          <a:p>
            <a:pPr>
              <a:spcAft>
                <a:spcPts val="10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Sprinkler irrigation produced the highest mean yield in this sample.</a:t>
            </a:r>
          </a:p>
          <a:p>
            <a:pPr>
              <a:spcAft>
                <a:spcPts val="10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Chilli led mean profit among crops; Wheat was the weakest profit performer.</a:t>
            </a:r>
          </a:p>
          <a:p>
            <a:pPr>
              <a:spcAft>
                <a:spcPts val="10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Water efficiency improved from Kharif to Zaid while average water use declined.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6547104"/>
            <a:ext cx="11155680" cy="10972"/>
          </a:xfrm>
          <a:prstGeom prst="rect">
            <a:avLst/>
          </a:prstGeom>
          <a:solidFill>
            <a:srgbClr val="D8E1E6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" y="6601968"/>
            <a:ext cx="658368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800" b="0">
                <a:solidFill>
                  <a:srgbClr val="637180"/>
                </a:solidFill>
                <a:latin typeface="Aptos"/>
              </a:rPr>
              <a:t>Seasonal Agriculture Performance Analysis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0" y="6601968"/>
            <a:ext cx="210312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/>
            <a:r>
              <a:rPr sz="800" b="0">
                <a:solidFill>
                  <a:srgbClr val="637180"/>
                </a:solidFill>
                <a:latin typeface="Aptos"/>
              </a:rPr>
              <a:t>Badal Chaudhary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B7A5C"/>
          </a:solidFill>
          <a:ln>
            <a:solidFill>
              <a:srgbClr val="2B7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051560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600" b="1">
                <a:solidFill>
                  <a:srgbClr val="0F2747"/>
                </a:solidFill>
                <a:latin typeface="Aptos"/>
              </a:rPr>
              <a:t>Project scope and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60704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100" b="0">
                <a:solidFill>
                  <a:srgbClr val="637180"/>
                </a:solidFill>
                <a:latin typeface="Aptos"/>
              </a:rPr>
              <a:t>The business questions behind the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84048"/>
            <a:ext cx="50292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/>
            <a:r>
              <a:rPr sz="1200" b="1">
                <a:solidFill>
                  <a:srgbClr val="2B7A5C"/>
                </a:solidFill>
                <a:latin typeface="Apto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5212080" cy="4389120"/>
          </a:xfrm>
          <a:prstGeom prst="roundRect">
            <a:avLst>
              <a:gd name="adj" fmla="val 12000"/>
            </a:avLst>
          </a:prstGeom>
          <a:solidFill>
            <a:srgbClr val="EFF5F7"/>
          </a:solidFill>
          <a:ln>
            <a:solidFill>
              <a:srgbClr val="DC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08760"/>
            <a:ext cx="4572000" cy="3200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800" b="1">
                <a:solidFill>
                  <a:srgbClr val="0F2747"/>
                </a:solidFill>
                <a:latin typeface="Aptos"/>
              </a:rPr>
              <a:t>Primary objective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920240"/>
            <a:ext cx="4526280" cy="9144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700" b="0">
                <a:solidFill>
                  <a:srgbClr val="232D3A"/>
                </a:solidFill>
                <a:latin typeface="Aptos"/>
              </a:rPr>
              <a:t>Understand how season, crop choice and irrigation method influence agricultural yield, revenue, cost, profit and water efficiency.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063240"/>
            <a:ext cx="4572000" cy="3200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800" b="1">
                <a:solidFill>
                  <a:srgbClr val="0F2747"/>
                </a:solidFill>
                <a:latin typeface="Aptos"/>
              </a:rPr>
              <a:t>Questions answered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456432"/>
            <a:ext cx="4526280" cy="1645920"/>
          </a:xfrm>
          <a:prstGeom prst="rect">
            <a:avLst/>
          </a:prstGeom>
          <a:noFill/>
        </p:spPr>
        <p:txBody>
          <a:bodyPr wrap="square" lIns="73152" rIns="54864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32D3A"/>
                </a:solidFill>
                <a:latin typeface="Aptos"/>
              </a:defRPr>
            </a:pPr>
            <a:r>
              <a:t>Which season is most profitable?</a:t>
            </a:r>
          </a:p>
          <a:p>
            <a:pPr>
              <a:spcAft>
                <a:spcPts val="1000"/>
              </a:spcAft>
              <a:defRPr sz="1500">
                <a:solidFill>
                  <a:srgbClr val="232D3A"/>
                </a:solidFill>
                <a:latin typeface="Aptos"/>
              </a:defRPr>
            </a:pPr>
            <a:r>
              <a:t>Which crops combine yield and profit?</a:t>
            </a:r>
          </a:p>
          <a:p>
            <a:pPr>
              <a:spcAft>
                <a:spcPts val="1000"/>
              </a:spcAft>
              <a:defRPr sz="1500">
                <a:solidFill>
                  <a:srgbClr val="232D3A"/>
                </a:solidFill>
                <a:latin typeface="Aptos"/>
              </a:defRPr>
            </a:pPr>
            <a:r>
              <a:t>Which irrigation method is most productive?</a:t>
            </a:r>
          </a:p>
          <a:p>
            <a:pPr>
              <a:spcAft>
                <a:spcPts val="1000"/>
              </a:spcAft>
              <a:defRPr sz="1500">
                <a:solidFill>
                  <a:srgbClr val="232D3A"/>
                </a:solidFill>
                <a:latin typeface="Aptos"/>
              </a:defRPr>
            </a:pPr>
            <a:r>
              <a:t>Where are the risk and data-quality gaps?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234440"/>
            <a:ext cx="5212080" cy="4389120"/>
          </a:xfrm>
          <a:prstGeom prst="roundRect">
            <a:avLst>
              <a:gd name="adj" fmla="val 12000"/>
            </a:avLst>
          </a:prstGeom>
          <a:solidFill>
            <a:srgbClr val="F7FAF8"/>
          </a:solidFill>
          <a:ln>
            <a:solidFill>
              <a:srgbClr val="D0E5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508760"/>
            <a:ext cx="4572000" cy="3200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800" b="1">
                <a:solidFill>
                  <a:srgbClr val="2B7A5C"/>
                </a:solidFill>
                <a:latin typeface="Aptos"/>
              </a:rPr>
              <a:t>Decision 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965960"/>
            <a:ext cx="4480560" cy="1828800"/>
          </a:xfrm>
          <a:prstGeom prst="rect">
            <a:avLst/>
          </a:prstGeom>
          <a:noFill/>
        </p:spPr>
        <p:txBody>
          <a:bodyPr wrap="square" lIns="73152" rIns="54864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Crop and season planning</a:t>
            </a:r>
          </a:p>
          <a:p>
            <a:pPr>
              <a:spcAft>
                <a:spcPts val="10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Irrigation strategy comparison</a:t>
            </a:r>
          </a:p>
          <a:p>
            <a:pPr>
              <a:spcAft>
                <a:spcPts val="10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Profitability screening</a:t>
            </a:r>
          </a:p>
          <a:p>
            <a:pPr>
              <a:spcAft>
                <a:spcPts val="10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Reproducible reporting for future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4343400"/>
            <a:ext cx="4480560" cy="6400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500" b="1">
                <a:solidFill>
                  <a:srgbClr val="232D3A"/>
                </a:solidFill>
                <a:latin typeface="Aptos"/>
              </a:rPr>
              <a:t>The included Streamlit dashboard makes the findings explorable rather than static.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547104"/>
            <a:ext cx="11155680" cy="10972"/>
          </a:xfrm>
          <a:prstGeom prst="rect">
            <a:avLst/>
          </a:prstGeom>
          <a:solidFill>
            <a:srgbClr val="D8E1E6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6601968"/>
            <a:ext cx="658368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800" b="0">
                <a:solidFill>
                  <a:srgbClr val="637180"/>
                </a:solidFill>
                <a:latin typeface="Aptos"/>
              </a:rPr>
              <a:t>Seasonal Agriculture Performance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6601968"/>
            <a:ext cx="210312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/>
            <a:r>
              <a:rPr sz="800" b="0">
                <a:solidFill>
                  <a:srgbClr val="637180"/>
                </a:solidFill>
                <a:latin typeface="Aptos"/>
              </a:rPr>
              <a:t>Badal Chaudhary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B7A5C"/>
          </a:solidFill>
          <a:ln>
            <a:solidFill>
              <a:srgbClr val="2B7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051560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600" b="1">
                <a:solidFill>
                  <a:srgbClr val="0F2747"/>
                </a:solidFill>
                <a:latin typeface="Aptos"/>
              </a:rPr>
              <a:t>Dataset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60704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100" b="0">
                <a:solidFill>
                  <a:srgbClr val="637180"/>
                </a:solidFill>
                <a:latin typeface="Aptos"/>
              </a:rPr>
              <a:t>Schema and coverage used for the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84048"/>
            <a:ext cx="50292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/>
            <a:r>
              <a:rPr sz="1200" b="1">
                <a:solidFill>
                  <a:srgbClr val="2B7A5C"/>
                </a:solidFill>
                <a:latin typeface="Apto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2468880" cy="1051560"/>
          </a:xfrm>
          <a:prstGeom prst="roundRect">
            <a:avLst>
              <a:gd name="adj" fmla="val 12000"/>
            </a:avLst>
          </a:prstGeom>
          <a:solidFill>
            <a:srgbClr val="EFF5F7"/>
          </a:solidFill>
          <a:ln>
            <a:solidFill>
              <a:srgbClr val="DC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234440"/>
            <a:ext cx="73152" cy="1051560"/>
          </a:xfrm>
          <a:prstGeom prst="rect">
            <a:avLst/>
          </a:prstGeom>
          <a:solidFill>
            <a:srgbClr val="2B7A5C"/>
          </a:solidFill>
          <a:ln>
            <a:solidFill>
              <a:srgbClr val="2B7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399032"/>
            <a:ext cx="2194560" cy="2560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900" b="1">
                <a:solidFill>
                  <a:srgbClr val="637180"/>
                </a:solidFill>
                <a:latin typeface="Aptos"/>
              </a:rPr>
              <a:t>ROWS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691640"/>
            <a:ext cx="2194560" cy="43891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200" b="1">
                <a:solidFill>
                  <a:srgbClr val="0F2747"/>
                </a:solidFill>
                <a:latin typeface="Aptos"/>
              </a:rPr>
              <a:t>120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234440"/>
            <a:ext cx="2468880" cy="1051560"/>
          </a:xfrm>
          <a:prstGeom prst="roundRect">
            <a:avLst>
              <a:gd name="adj" fmla="val 12000"/>
            </a:avLst>
          </a:prstGeom>
          <a:solidFill>
            <a:srgbClr val="EFF5F7"/>
          </a:solidFill>
          <a:ln>
            <a:solidFill>
              <a:srgbClr val="DC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29000" y="1234440"/>
            <a:ext cx="73152" cy="1051560"/>
          </a:xfrm>
          <a:prstGeom prst="rect">
            <a:avLst/>
          </a:prstGeom>
          <a:solidFill>
            <a:srgbClr val="348F9E"/>
          </a:solidFill>
          <a:ln>
            <a:solidFill>
              <a:srgbClr val="348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93592" y="1399032"/>
            <a:ext cx="2194560" cy="2560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900" b="1">
                <a:solidFill>
                  <a:srgbClr val="637180"/>
                </a:solidFill>
                <a:latin typeface="Aptos"/>
              </a:rPr>
              <a:t>FIELDS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1691640"/>
            <a:ext cx="2194560" cy="43891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200" b="1">
                <a:solidFill>
                  <a:srgbClr val="0F2747"/>
                </a:solidFill>
                <a:latin typeface="Aptos"/>
              </a:rPr>
              <a:t>28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234440"/>
            <a:ext cx="2468880" cy="1051560"/>
          </a:xfrm>
          <a:prstGeom prst="roundRect">
            <a:avLst>
              <a:gd name="adj" fmla="val 12000"/>
            </a:avLst>
          </a:prstGeom>
          <a:solidFill>
            <a:srgbClr val="EFF5F7"/>
          </a:solidFill>
          <a:ln>
            <a:solidFill>
              <a:srgbClr val="DC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1234440"/>
            <a:ext cx="73152" cy="1051560"/>
          </a:xfrm>
          <a:prstGeom prst="rect">
            <a:avLst/>
          </a:prstGeom>
          <a:solidFill>
            <a:srgbClr val="E0A44A"/>
          </a:solidFill>
          <a:ln>
            <a:solidFill>
              <a:srgbClr val="E0A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91072" y="1399032"/>
            <a:ext cx="2194560" cy="2560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900" b="1">
                <a:solidFill>
                  <a:srgbClr val="637180"/>
                </a:solidFill>
                <a:latin typeface="Aptos"/>
              </a:rPr>
              <a:t>IRRIGATION METHODS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91072" y="1691640"/>
            <a:ext cx="2194560" cy="43891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200" b="1">
                <a:solidFill>
                  <a:srgbClr val="0F2747"/>
                </a:solidFill>
                <a:latin typeface="Aptos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23960" y="1234440"/>
            <a:ext cx="2468880" cy="1051560"/>
          </a:xfrm>
          <a:prstGeom prst="roundRect">
            <a:avLst>
              <a:gd name="adj" fmla="val 12000"/>
            </a:avLst>
          </a:prstGeom>
          <a:solidFill>
            <a:srgbClr val="EFF5F7"/>
          </a:solidFill>
          <a:ln>
            <a:solidFill>
              <a:srgbClr val="DC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823960" y="1234440"/>
            <a:ext cx="73152" cy="1051560"/>
          </a:xfrm>
          <a:prstGeom prst="rect">
            <a:avLst/>
          </a:prstGeom>
          <a:solidFill>
            <a:srgbClr val="2B7A5C"/>
          </a:solidFill>
          <a:ln>
            <a:solidFill>
              <a:srgbClr val="2B7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88552" y="1399032"/>
            <a:ext cx="2194560" cy="2560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900" b="1">
                <a:solidFill>
                  <a:srgbClr val="637180"/>
                </a:solidFill>
                <a:latin typeface="Aptos"/>
              </a:rPr>
              <a:t>DUPLICATE FARM IDS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88552" y="1691640"/>
            <a:ext cx="2194560" cy="43891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200" b="1">
                <a:solidFill>
                  <a:srgbClr val="0F2747"/>
                </a:solidFill>
                <a:latin typeface="Aptos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2697480"/>
            <a:ext cx="4846320" cy="3200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800" b="1">
                <a:solidFill>
                  <a:srgbClr val="0F2747"/>
                </a:solidFill>
                <a:latin typeface="Aptos"/>
              </a:rPr>
              <a:t>Analytical dimensions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3063240"/>
            <a:ext cx="4846320" cy="2286000"/>
          </a:xfrm>
          <a:prstGeom prst="rect">
            <a:avLst/>
          </a:prstGeom>
          <a:noFill/>
        </p:spPr>
        <p:txBody>
          <a:bodyPr wrap="square" lIns="73152" rIns="54864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32D3A"/>
                </a:solidFill>
                <a:latin typeface="Aptos"/>
              </a:defRPr>
            </a:pPr>
            <a:r>
              <a:t>Season: Kharif, Rabi, Zaid</a:t>
            </a:r>
          </a:p>
          <a:p>
            <a:pPr>
              <a:spcAft>
                <a:spcPts val="1000"/>
              </a:spcAft>
              <a:defRPr sz="1600">
                <a:solidFill>
                  <a:srgbClr val="232D3A"/>
                </a:solidFill>
                <a:latin typeface="Aptos"/>
              </a:defRPr>
            </a:pPr>
            <a:r>
              <a:t>Crop: 8 crop categories</a:t>
            </a:r>
          </a:p>
          <a:p>
            <a:pPr>
              <a:spcAft>
                <a:spcPts val="1000"/>
              </a:spcAft>
              <a:defRPr sz="1600">
                <a:solidFill>
                  <a:srgbClr val="232D3A"/>
                </a:solidFill>
                <a:latin typeface="Aptos"/>
              </a:defRPr>
            </a:pPr>
            <a:r>
              <a:t>Irrigation: Drip, Flood, Rainfed, Sprinkler</a:t>
            </a:r>
          </a:p>
          <a:p>
            <a:pPr>
              <a:spcAft>
                <a:spcPts val="1000"/>
              </a:spcAft>
              <a:defRPr sz="1600">
                <a:solidFill>
                  <a:srgbClr val="232D3A"/>
                </a:solidFill>
                <a:latin typeface="Aptos"/>
              </a:defRPr>
            </a:pPr>
            <a:r>
              <a:t>Outcomes: yield, production, revenue, cost, profit, water efficiency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2697480"/>
            <a:ext cx="4754880" cy="3200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800" b="1">
                <a:solidFill>
                  <a:srgbClr val="0F2747"/>
                </a:solidFill>
                <a:latin typeface="Aptos"/>
              </a:rPr>
              <a:t>Key numeric measures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3063240"/>
            <a:ext cx="4754880" cy="2286000"/>
          </a:xfrm>
          <a:prstGeom prst="rect">
            <a:avLst/>
          </a:prstGeom>
          <a:noFill/>
        </p:spPr>
        <p:txBody>
          <a:bodyPr wrap="square" lIns="73152" rIns="54864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32D3A"/>
                </a:solidFill>
                <a:latin typeface="Aptos"/>
              </a:defRPr>
            </a:pPr>
            <a:r>
              <a:t>Yield in tonnes per hectare</a:t>
            </a:r>
          </a:p>
          <a:p>
            <a:pPr>
              <a:spcAft>
                <a:spcPts val="1000"/>
              </a:spcAft>
              <a:defRPr sz="1600">
                <a:solidFill>
                  <a:srgbClr val="232D3A"/>
                </a:solidFill>
                <a:latin typeface="Aptos"/>
              </a:defRPr>
            </a:pPr>
            <a:r>
              <a:t>Production and water used</a:t>
            </a:r>
          </a:p>
          <a:p>
            <a:pPr>
              <a:spcAft>
                <a:spcPts val="1000"/>
              </a:spcAft>
              <a:defRPr sz="1600">
                <a:solidFill>
                  <a:srgbClr val="232D3A"/>
                </a:solidFill>
                <a:latin typeface="Aptos"/>
              </a:defRPr>
            </a:pPr>
            <a:r>
              <a:t>Revenue, cost and profit in INR</a:t>
            </a:r>
          </a:p>
          <a:p>
            <a:pPr>
              <a:spcAft>
                <a:spcPts val="1000"/>
              </a:spcAft>
              <a:defRPr sz="1600">
                <a:solidFill>
                  <a:srgbClr val="232D3A"/>
                </a:solidFill>
                <a:latin typeface="Aptos"/>
              </a:defRPr>
            </a:pPr>
            <a:r>
              <a:t>Disease/pest risk percentage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6547104"/>
            <a:ext cx="11155680" cy="10972"/>
          </a:xfrm>
          <a:prstGeom prst="rect">
            <a:avLst/>
          </a:prstGeom>
          <a:solidFill>
            <a:srgbClr val="D8E1E6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0352" y="6601968"/>
            <a:ext cx="658368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800" b="0">
                <a:solidFill>
                  <a:srgbClr val="637180"/>
                </a:solidFill>
                <a:latin typeface="Aptos"/>
              </a:rPr>
              <a:t>Seasonal Agriculture Performance Analysis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0" y="6601968"/>
            <a:ext cx="210312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/>
            <a:r>
              <a:rPr sz="800" b="0">
                <a:solidFill>
                  <a:srgbClr val="637180"/>
                </a:solidFill>
                <a:latin typeface="Aptos"/>
              </a:rPr>
              <a:t>Badal Chaudhary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B7A5C"/>
          </a:solidFill>
          <a:ln>
            <a:solidFill>
              <a:srgbClr val="2B7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051560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600" b="1">
                <a:solidFill>
                  <a:srgbClr val="0F2747"/>
                </a:solidFill>
                <a:latin typeface="Aptos"/>
              </a:rPr>
              <a:t>Analysis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60704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100" b="0">
                <a:solidFill>
                  <a:srgbClr val="637180"/>
                </a:solidFill>
                <a:latin typeface="Aptos"/>
              </a:rPr>
              <a:t>A reproducible pipeline from raw data to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84048"/>
            <a:ext cx="50292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/>
            <a:r>
              <a:rPr sz="1200" b="1">
                <a:solidFill>
                  <a:srgbClr val="2B7A5C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1737360" cy="2377440"/>
          </a:xfrm>
          <a:prstGeom prst="roundRect">
            <a:avLst>
              <a:gd name="adj" fmla="val 12000"/>
            </a:avLst>
          </a:prstGeom>
          <a:solidFill>
            <a:srgbClr val="EFF5F7"/>
          </a:solidFill>
          <a:ln>
            <a:solidFill>
              <a:srgbClr val="DC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80160" y="1810512"/>
            <a:ext cx="548640" cy="548640"/>
          </a:xfrm>
          <a:prstGeom prst="roundRect">
            <a:avLst>
              <a:gd name="adj" fmla="val 12000"/>
            </a:avLst>
          </a:prstGeom>
          <a:solidFill>
            <a:srgbClr val="2B7A5C"/>
          </a:solidFill>
          <a:ln>
            <a:solidFill>
              <a:srgbClr val="2B7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1901952"/>
            <a:ext cx="548640" cy="2286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06040"/>
            <a:ext cx="146304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600" b="1">
                <a:solidFill>
                  <a:srgbClr val="0F2747"/>
                </a:solidFill>
                <a:latin typeface="Aptos"/>
              </a:rPr>
              <a:t>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3035808"/>
            <a:ext cx="1408176" cy="6583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000" b="0">
                <a:solidFill>
                  <a:srgbClr val="637180"/>
                </a:solidFill>
                <a:latin typeface="Aptos"/>
              </a:rPr>
              <a:t>Read CSV and validate fields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71800" y="1600200"/>
            <a:ext cx="1737360" cy="2377440"/>
          </a:xfrm>
          <a:prstGeom prst="roundRect">
            <a:avLst>
              <a:gd name="adj" fmla="val 12000"/>
            </a:avLst>
          </a:prstGeom>
          <a:solidFill>
            <a:srgbClr val="EFF5F7"/>
          </a:solidFill>
          <a:ln>
            <a:solidFill>
              <a:srgbClr val="DC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566160" y="1810512"/>
            <a:ext cx="548640" cy="548640"/>
          </a:xfrm>
          <a:prstGeom prst="roundRect">
            <a:avLst>
              <a:gd name="adj" fmla="val 12000"/>
            </a:avLst>
          </a:prstGeom>
          <a:solidFill>
            <a:srgbClr val="2B7A5C"/>
          </a:solidFill>
          <a:ln>
            <a:solidFill>
              <a:srgbClr val="2B7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1901952"/>
            <a:ext cx="548640" cy="2286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2606040"/>
            <a:ext cx="146304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600" b="1">
                <a:solidFill>
                  <a:srgbClr val="0F2747"/>
                </a:solidFill>
                <a:latin typeface="Aptos"/>
              </a:rPr>
              <a:t>Clean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36392" y="3035808"/>
            <a:ext cx="1408176" cy="6583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000" b="0">
                <a:solidFill>
                  <a:srgbClr val="637180"/>
                </a:solidFill>
                <a:latin typeface="Aptos"/>
              </a:rPr>
              <a:t>Normalize types and handle quality checks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57800" y="1600200"/>
            <a:ext cx="1737360" cy="2377440"/>
          </a:xfrm>
          <a:prstGeom prst="roundRect">
            <a:avLst>
              <a:gd name="adj" fmla="val 12000"/>
            </a:avLst>
          </a:prstGeom>
          <a:solidFill>
            <a:srgbClr val="EFF5F7"/>
          </a:solidFill>
          <a:ln>
            <a:solidFill>
              <a:srgbClr val="DC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852160" y="1810512"/>
            <a:ext cx="548640" cy="548640"/>
          </a:xfrm>
          <a:prstGeom prst="roundRect">
            <a:avLst>
              <a:gd name="adj" fmla="val 12000"/>
            </a:avLst>
          </a:prstGeom>
          <a:solidFill>
            <a:srgbClr val="2B7A5C"/>
          </a:solidFill>
          <a:ln>
            <a:solidFill>
              <a:srgbClr val="2B7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52160" y="1901952"/>
            <a:ext cx="548640" cy="2286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2606040"/>
            <a:ext cx="146304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600" b="1">
                <a:solidFill>
                  <a:srgbClr val="0F2747"/>
                </a:solidFill>
                <a:latin typeface="Aptos"/>
              </a:rPr>
              <a:t>Analyse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22392" y="3035808"/>
            <a:ext cx="1408176" cy="6583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000" b="0">
                <a:solidFill>
                  <a:srgbClr val="637180"/>
                </a:solidFill>
                <a:latin typeface="Aptos"/>
              </a:rPr>
              <a:t>Aggregate by season, crop and irrigation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43800" y="1600200"/>
            <a:ext cx="1737360" cy="2377440"/>
          </a:xfrm>
          <a:prstGeom prst="roundRect">
            <a:avLst>
              <a:gd name="adj" fmla="val 12000"/>
            </a:avLst>
          </a:prstGeom>
          <a:solidFill>
            <a:srgbClr val="EFF5F7"/>
          </a:solidFill>
          <a:ln>
            <a:solidFill>
              <a:srgbClr val="DC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138160" y="1810512"/>
            <a:ext cx="548640" cy="548640"/>
          </a:xfrm>
          <a:prstGeom prst="roundRect">
            <a:avLst>
              <a:gd name="adj" fmla="val 12000"/>
            </a:avLst>
          </a:prstGeom>
          <a:solidFill>
            <a:srgbClr val="348F9E"/>
          </a:solidFill>
          <a:ln>
            <a:solidFill>
              <a:srgbClr val="2B7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0" y="1901952"/>
            <a:ext cx="548640" cy="2286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2606040"/>
            <a:ext cx="146304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600" b="1">
                <a:solidFill>
                  <a:srgbClr val="0F2747"/>
                </a:solidFill>
                <a:latin typeface="Aptos"/>
              </a:rPr>
              <a:t>Visualise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08392" y="3035808"/>
            <a:ext cx="1408176" cy="6583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000" b="0">
                <a:solidFill>
                  <a:srgbClr val="637180"/>
                </a:solidFill>
                <a:latin typeface="Aptos"/>
              </a:rPr>
              <a:t>Create charts and dashboard views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829800" y="1600200"/>
            <a:ext cx="1737360" cy="2377440"/>
          </a:xfrm>
          <a:prstGeom prst="roundRect">
            <a:avLst>
              <a:gd name="adj" fmla="val 12000"/>
            </a:avLst>
          </a:prstGeom>
          <a:solidFill>
            <a:srgbClr val="EFF5F7"/>
          </a:solidFill>
          <a:ln>
            <a:solidFill>
              <a:srgbClr val="DC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424160" y="1810512"/>
            <a:ext cx="548640" cy="548640"/>
          </a:xfrm>
          <a:prstGeom prst="roundRect">
            <a:avLst>
              <a:gd name="adj" fmla="val 12000"/>
            </a:avLst>
          </a:prstGeom>
          <a:solidFill>
            <a:srgbClr val="E0A44A"/>
          </a:solidFill>
          <a:ln>
            <a:solidFill>
              <a:srgbClr val="2B7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424160" y="1901952"/>
            <a:ext cx="548640" cy="2286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2606040"/>
            <a:ext cx="146304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600" b="1">
                <a:solidFill>
                  <a:srgbClr val="0F2747"/>
                </a:solidFill>
                <a:latin typeface="Aptos"/>
              </a:rPr>
              <a:t>Report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94392" y="3035808"/>
            <a:ext cx="1408176" cy="6583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000" b="0">
                <a:solidFill>
                  <a:srgbClr val="637180"/>
                </a:solidFill>
                <a:latin typeface="Aptos"/>
              </a:rPr>
              <a:t>Export summaries, notebook and PPT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4800600"/>
            <a:ext cx="10058400" cy="5029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600" b="1">
                <a:solidFill>
                  <a:srgbClr val="232D3A"/>
                </a:solidFill>
                <a:latin typeface="Aptos"/>
              </a:rPr>
              <a:t>The same logic is available as Python code and a Jupyter notebook so the analysis can be rerun when the full dataset is added.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6547104"/>
            <a:ext cx="11155680" cy="10972"/>
          </a:xfrm>
          <a:prstGeom prst="rect">
            <a:avLst/>
          </a:prstGeom>
          <a:solidFill>
            <a:srgbClr val="D8E1E6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0352" y="6601968"/>
            <a:ext cx="658368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800" b="0">
                <a:solidFill>
                  <a:srgbClr val="637180"/>
                </a:solidFill>
                <a:latin typeface="Aptos"/>
              </a:rPr>
              <a:t>Seasonal Agriculture Performance Analysis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09760" y="6601968"/>
            <a:ext cx="210312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/>
            <a:r>
              <a:rPr sz="800" b="0">
                <a:solidFill>
                  <a:srgbClr val="637180"/>
                </a:solidFill>
                <a:latin typeface="Aptos"/>
              </a:rPr>
              <a:t>Badal Chaudhary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B7A5C"/>
          </a:solidFill>
          <a:ln>
            <a:solidFill>
              <a:srgbClr val="2B7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051560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600" b="1">
                <a:solidFill>
                  <a:srgbClr val="0F2747"/>
                </a:solidFill>
                <a:latin typeface="Aptos"/>
              </a:rPr>
              <a:t>Seasonal profitability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60704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100" b="0">
                <a:solidFill>
                  <a:srgbClr val="637180"/>
                </a:solidFill>
                <a:latin typeface="Aptos"/>
              </a:rPr>
              <a:t>Zaid and Kharif lead the profit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84048"/>
            <a:ext cx="50292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/>
            <a:r>
              <a:rPr sz="1200" b="1">
                <a:solidFill>
                  <a:srgbClr val="2B7A5C"/>
                </a:solidFill>
                <a:latin typeface="Aptos"/>
              </a:rPr>
              <a:t>06</a:t>
            </a:r>
          </a:p>
        </p:txBody>
      </p:sp>
      <p:pic>
        <p:nvPicPr>
          <p:cNvPr id="6" name="Picture 5" descr="profit_by_sea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6629400" cy="425196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543800" y="1417320"/>
          <a:ext cx="3977639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4409"/>
                <a:gridCol w="994409"/>
                <a:gridCol w="994409"/>
                <a:gridCol w="994412"/>
              </a:tblGrid>
              <a:tr h="708660"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  <a:latin typeface="Aptos"/>
                        </a:rPr>
                        <a:t>Season</a:t>
                      </a:r>
                    </a:p>
                  </a:txBody>
                  <a:tcPr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  <a:latin typeface="Aptos"/>
                        </a:rPr>
                        <a:t>Mean profit (INR)</a:t>
                      </a:r>
                    </a:p>
                  </a:txBody>
                  <a:tcPr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  <a:latin typeface="Aptos"/>
                        </a:rPr>
                        <a:t>Mean revenue (INR)</a:t>
                      </a:r>
                    </a:p>
                  </a:txBody>
                  <a:tcPr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  <a:latin typeface="Aptos"/>
                        </a:rPr>
                        <a:t>Mean cost (INR)</a:t>
                      </a:r>
                    </a:p>
                  </a:txBody>
                  <a:tcPr>
                    <a:solidFill>
                      <a:srgbClr val="0F2747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D3A"/>
                          </a:solidFill>
                          <a:latin typeface="Aptos"/>
                        </a:rPr>
                        <a:t>Kharif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D3A"/>
                          </a:solidFill>
                          <a:latin typeface="Aptos"/>
                        </a:rPr>
                        <a:t>429,538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D3A"/>
                          </a:solidFill>
                          <a:latin typeface="Aptos"/>
                        </a:rPr>
                        <a:t>584,175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D3A"/>
                          </a:solidFill>
                          <a:latin typeface="Aptos"/>
                        </a:rPr>
                        <a:t>154,638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D3A"/>
                          </a:solidFill>
                          <a:latin typeface="Aptos"/>
                        </a:rPr>
                        <a:t>Rabi</a:t>
                      </a:r>
                    </a:p>
                  </a:txBody>
                  <a:tcPr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D3A"/>
                          </a:solidFill>
                          <a:latin typeface="Aptos"/>
                        </a:rPr>
                        <a:t>318,057</a:t>
                      </a:r>
                    </a:p>
                  </a:txBody>
                  <a:tcPr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D3A"/>
                          </a:solidFill>
                          <a:latin typeface="Aptos"/>
                        </a:rPr>
                        <a:t>526,593</a:t>
                      </a:r>
                    </a:p>
                  </a:txBody>
                  <a:tcPr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D3A"/>
                          </a:solidFill>
                          <a:latin typeface="Aptos"/>
                        </a:rPr>
                        <a:t>208,535</a:t>
                      </a:r>
                    </a:p>
                  </a:txBody>
                  <a:tcPr>
                    <a:solidFill>
                      <a:srgbClr val="EFF5F7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D3A"/>
                          </a:solidFill>
                          <a:latin typeface="Aptos"/>
                        </a:rPr>
                        <a:t>Zaid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D3A"/>
                          </a:solidFill>
                          <a:latin typeface="Aptos"/>
                        </a:rPr>
                        <a:t>439,153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D3A"/>
                          </a:solidFill>
                          <a:latin typeface="Aptos"/>
                        </a:rPr>
                        <a:t>630,516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D3A"/>
                          </a:solidFill>
                          <a:latin typeface="Aptos"/>
                        </a:rPr>
                        <a:t>191,363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635240" y="4663440"/>
            <a:ext cx="3657600" cy="59436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400" b="1">
                <a:solidFill>
                  <a:srgbClr val="2B7A5C"/>
                </a:solidFill>
                <a:latin typeface="Aptos"/>
              </a:rPr>
              <a:t>Zaid: highest mean profit at INR 439,153. Kharif is close at INR 429,538.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547104"/>
            <a:ext cx="11155680" cy="10972"/>
          </a:xfrm>
          <a:prstGeom prst="rect">
            <a:avLst/>
          </a:prstGeom>
          <a:solidFill>
            <a:srgbClr val="D8E1E6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6601968"/>
            <a:ext cx="658368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800" b="0">
                <a:solidFill>
                  <a:srgbClr val="637180"/>
                </a:solidFill>
                <a:latin typeface="Aptos"/>
              </a:rPr>
              <a:t>Seasonal Agriculture Performance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0" y="6601968"/>
            <a:ext cx="210312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/>
            <a:r>
              <a:rPr sz="800" b="0">
                <a:solidFill>
                  <a:srgbClr val="637180"/>
                </a:solidFill>
                <a:latin typeface="Aptos"/>
              </a:rPr>
              <a:t>Badal Chaudhary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B7A5C"/>
          </a:solidFill>
          <a:ln>
            <a:solidFill>
              <a:srgbClr val="2B7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051560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600" b="1">
                <a:solidFill>
                  <a:srgbClr val="0F2747"/>
                </a:solidFill>
                <a:latin typeface="Aptos"/>
              </a:rPr>
              <a:t>Yield and water efficiency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60704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100" b="0">
                <a:solidFill>
                  <a:srgbClr val="637180"/>
                </a:solidFill>
                <a:latin typeface="Aptos"/>
              </a:rPr>
              <a:t>Zaid has the strongest water-efficiency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84048"/>
            <a:ext cx="50292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/>
            <a:r>
              <a:rPr sz="1200" b="1">
                <a:solidFill>
                  <a:srgbClr val="2B7A5C"/>
                </a:solidFill>
                <a:latin typeface="Aptos"/>
              </a:rPr>
              <a:t>07</a:t>
            </a:r>
          </a:p>
        </p:txBody>
      </p:sp>
      <p:pic>
        <p:nvPicPr>
          <p:cNvPr id="6" name="Picture 5" descr="yield_by_sea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5715000" cy="411480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629400" y="1417320"/>
          <a:ext cx="480060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0150"/>
                <a:gridCol w="1200150"/>
                <a:gridCol w="1200150"/>
                <a:gridCol w="1200150"/>
              </a:tblGrid>
              <a:tr h="708660"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  <a:latin typeface="Aptos"/>
                        </a:rPr>
                        <a:t>Season</a:t>
                      </a:r>
                    </a:p>
                  </a:txBody>
                  <a:tcPr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  <a:latin typeface="Aptos"/>
                        </a:rPr>
                        <a:t>Yield (t/ha)</a:t>
                      </a:r>
                    </a:p>
                  </a:txBody>
                  <a:tcPr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  <a:latin typeface="Aptos"/>
                        </a:rPr>
                        <a:t>Water efficiency</a:t>
                      </a:r>
                    </a:p>
                  </a:txBody>
                  <a:tcPr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  <a:latin typeface="Aptos"/>
                        </a:rPr>
                        <a:t>Water used (m³)</a:t>
                      </a:r>
                    </a:p>
                  </a:txBody>
                  <a:tcPr>
                    <a:solidFill>
                      <a:srgbClr val="0F2747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D3A"/>
                          </a:solidFill>
                          <a:latin typeface="Aptos"/>
                        </a:rPr>
                        <a:t>Kharif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D3A"/>
                          </a:solidFill>
                          <a:latin typeface="Aptos"/>
                        </a:rPr>
                        <a:t>2.53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D3A"/>
                          </a:solidFill>
                          <a:latin typeface="Aptos"/>
                        </a:rPr>
                        <a:t>7.65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D3A"/>
                          </a:solidFill>
                          <a:latin typeface="Aptos"/>
                        </a:rPr>
                        <a:t>2,778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D3A"/>
                          </a:solidFill>
                          <a:latin typeface="Aptos"/>
                        </a:rPr>
                        <a:t>Rabi</a:t>
                      </a:r>
                    </a:p>
                  </a:txBody>
                  <a:tcPr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D3A"/>
                          </a:solidFill>
                          <a:latin typeface="Aptos"/>
                        </a:rPr>
                        <a:t>2.60</a:t>
                      </a:r>
                    </a:p>
                  </a:txBody>
                  <a:tcPr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D3A"/>
                          </a:solidFill>
                          <a:latin typeface="Aptos"/>
                        </a:rPr>
                        <a:t>8.16</a:t>
                      </a:r>
                    </a:p>
                  </a:txBody>
                  <a:tcPr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D3A"/>
                          </a:solidFill>
                          <a:latin typeface="Aptos"/>
                        </a:rPr>
                        <a:t>2,334</a:t>
                      </a:r>
                    </a:p>
                  </a:txBody>
                  <a:tcPr>
                    <a:solidFill>
                      <a:srgbClr val="EFF5F7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D3A"/>
                          </a:solidFill>
                          <a:latin typeface="Aptos"/>
                        </a:rPr>
                        <a:t>Zaid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D3A"/>
                          </a:solidFill>
                          <a:latin typeface="Aptos"/>
                        </a:rPr>
                        <a:t>2.26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D3A"/>
                          </a:solidFill>
                          <a:latin typeface="Aptos"/>
                        </a:rPr>
                        <a:t>9.41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D3A"/>
                          </a:solidFill>
                          <a:latin typeface="Aptos"/>
                        </a:rPr>
                        <a:t>2,188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720840" y="4663440"/>
            <a:ext cx="4480560" cy="6583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400" b="1">
                <a:solidFill>
                  <a:srgbClr val="348F9E"/>
                </a:solidFill>
                <a:latin typeface="Aptos"/>
              </a:rPr>
              <a:t>Zaid uses the least average water while achieving the highest water efficiency in the sample.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547104"/>
            <a:ext cx="11155680" cy="10972"/>
          </a:xfrm>
          <a:prstGeom prst="rect">
            <a:avLst/>
          </a:prstGeom>
          <a:solidFill>
            <a:srgbClr val="D8E1E6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6601968"/>
            <a:ext cx="658368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800" b="0">
                <a:solidFill>
                  <a:srgbClr val="637180"/>
                </a:solidFill>
                <a:latin typeface="Aptos"/>
              </a:rPr>
              <a:t>Seasonal Agriculture Performance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0" y="6601968"/>
            <a:ext cx="210312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/>
            <a:r>
              <a:rPr sz="800" b="0">
                <a:solidFill>
                  <a:srgbClr val="637180"/>
                </a:solidFill>
                <a:latin typeface="Aptos"/>
              </a:rPr>
              <a:t>Badal Chaudhary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B7A5C"/>
          </a:solidFill>
          <a:ln>
            <a:solidFill>
              <a:srgbClr val="2B7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051560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600" b="1">
                <a:solidFill>
                  <a:srgbClr val="0F2747"/>
                </a:solidFill>
                <a:latin typeface="Aptos"/>
              </a:rPr>
              <a:t>Crop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60704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100" b="0">
                <a:solidFill>
                  <a:srgbClr val="637180"/>
                </a:solidFill>
                <a:latin typeface="Aptos"/>
              </a:rPr>
              <a:t>Profitability differs materially across crops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84048"/>
            <a:ext cx="50292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/>
            <a:r>
              <a:rPr sz="1200" b="1">
                <a:solidFill>
                  <a:srgbClr val="2B7A5C"/>
                </a:solidFill>
                <a:latin typeface="Aptos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298448"/>
            <a:ext cx="5303520" cy="3200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800" b="1">
                <a:solidFill>
                  <a:srgbClr val="0F2747"/>
                </a:solidFill>
                <a:latin typeface="Aptos"/>
              </a:rPr>
              <a:t>Mean profit and yield by crop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68680" y="1737360"/>
          <a:ext cx="1046988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7470"/>
                <a:gridCol w="2617470"/>
                <a:gridCol w="2617470"/>
                <a:gridCol w="2617470"/>
              </a:tblGrid>
              <a:tr h="381000"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  <a:latin typeface="Aptos"/>
                        </a:rPr>
                        <a:t>Crop</a:t>
                      </a:r>
                    </a:p>
                  </a:txBody>
                  <a:tcPr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  <a:latin typeface="Aptos"/>
                        </a:rPr>
                        <a:t>Mean profit (INR)</a:t>
                      </a:r>
                    </a:p>
                  </a:txBody>
                  <a:tcPr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  <a:latin typeface="Aptos"/>
                        </a:rPr>
                        <a:t>Yield (t/ha)</a:t>
                      </a:r>
                    </a:p>
                  </a:txBody>
                  <a:tcPr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  <a:latin typeface="Aptos"/>
                        </a:rPr>
                        <a:t>Risk (%)</a:t>
                      </a:r>
                    </a:p>
                  </a:txBody>
                  <a:tcPr>
                    <a:solidFill>
                      <a:srgbClr val="0F274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D3A"/>
                          </a:solidFill>
                          <a:latin typeface="Aptos"/>
                        </a:rPr>
                        <a:t>Chilli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D3A"/>
                          </a:solidFill>
                          <a:latin typeface="Aptos"/>
                        </a:rPr>
                        <a:t>582,463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D3A"/>
                          </a:solidFill>
                          <a:latin typeface="Aptos"/>
                        </a:rPr>
                        <a:t>2.63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D3A"/>
                          </a:solidFill>
                          <a:latin typeface="Aptos"/>
                        </a:rPr>
                        <a:t>38.4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D3A"/>
                          </a:solidFill>
                          <a:latin typeface="Aptos"/>
                        </a:rPr>
                        <a:t>Rice</a:t>
                      </a:r>
                    </a:p>
                  </a:txBody>
                  <a:tcPr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D3A"/>
                          </a:solidFill>
                          <a:latin typeface="Aptos"/>
                        </a:rPr>
                        <a:t>486,725</a:t>
                      </a:r>
                    </a:p>
                  </a:txBody>
                  <a:tcPr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D3A"/>
                          </a:solidFill>
                          <a:latin typeface="Aptos"/>
                        </a:rPr>
                        <a:t>2.91</a:t>
                      </a:r>
                    </a:p>
                  </a:txBody>
                  <a:tcPr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D3A"/>
                          </a:solidFill>
                          <a:latin typeface="Aptos"/>
                        </a:rPr>
                        <a:t>38.5</a:t>
                      </a:r>
                    </a:p>
                  </a:txBody>
                  <a:tcPr>
                    <a:solidFill>
                      <a:srgbClr val="EFF5F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D3A"/>
                          </a:solidFill>
                          <a:latin typeface="Aptos"/>
                        </a:rPr>
                        <a:t>Sugarcane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D3A"/>
                          </a:solidFill>
                          <a:latin typeface="Aptos"/>
                        </a:rPr>
                        <a:t>415,531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D3A"/>
                          </a:solidFill>
                          <a:latin typeface="Aptos"/>
                        </a:rPr>
                        <a:t>2.49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D3A"/>
                          </a:solidFill>
                          <a:latin typeface="Aptos"/>
                        </a:rPr>
                        <a:t>40.5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D3A"/>
                          </a:solidFill>
                          <a:latin typeface="Aptos"/>
                        </a:rPr>
                        <a:t>Pulses</a:t>
                      </a:r>
                    </a:p>
                  </a:txBody>
                  <a:tcPr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D3A"/>
                          </a:solidFill>
                          <a:latin typeface="Aptos"/>
                        </a:rPr>
                        <a:t>401,023</a:t>
                      </a:r>
                    </a:p>
                  </a:txBody>
                  <a:tcPr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D3A"/>
                          </a:solidFill>
                          <a:latin typeface="Aptos"/>
                        </a:rPr>
                        <a:t>2.73</a:t>
                      </a:r>
                    </a:p>
                  </a:txBody>
                  <a:tcPr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D3A"/>
                          </a:solidFill>
                          <a:latin typeface="Aptos"/>
                        </a:rPr>
                        <a:t>38.8</a:t>
                      </a:r>
                    </a:p>
                  </a:txBody>
                  <a:tcPr>
                    <a:solidFill>
                      <a:srgbClr val="EFF5F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D3A"/>
                          </a:solidFill>
                          <a:latin typeface="Aptos"/>
                        </a:rPr>
                        <a:t>Maize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D3A"/>
                          </a:solidFill>
                          <a:latin typeface="Aptos"/>
                        </a:rPr>
                        <a:t>399,775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D3A"/>
                          </a:solidFill>
                          <a:latin typeface="Aptos"/>
                        </a:rPr>
                        <a:t>2.74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D3A"/>
                          </a:solidFill>
                          <a:latin typeface="Aptos"/>
                        </a:rPr>
                        <a:t>38.3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D3A"/>
                          </a:solidFill>
                          <a:latin typeface="Aptos"/>
                        </a:rPr>
                        <a:t>Cotton</a:t>
                      </a:r>
                    </a:p>
                  </a:txBody>
                  <a:tcPr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D3A"/>
                          </a:solidFill>
                          <a:latin typeface="Aptos"/>
                        </a:rPr>
                        <a:t>345,872</a:t>
                      </a:r>
                    </a:p>
                  </a:txBody>
                  <a:tcPr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D3A"/>
                          </a:solidFill>
                          <a:latin typeface="Aptos"/>
                        </a:rPr>
                        <a:t>2.21</a:t>
                      </a:r>
                    </a:p>
                  </a:txBody>
                  <a:tcPr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D3A"/>
                          </a:solidFill>
                          <a:latin typeface="Aptos"/>
                        </a:rPr>
                        <a:t>45.4</a:t>
                      </a:r>
                    </a:p>
                  </a:txBody>
                  <a:tcPr>
                    <a:solidFill>
                      <a:srgbClr val="EFF5F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D3A"/>
                          </a:solidFill>
                          <a:latin typeface="Aptos"/>
                        </a:rPr>
                        <a:t>Groundnut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D3A"/>
                          </a:solidFill>
                          <a:latin typeface="Aptos"/>
                        </a:rPr>
                        <a:t>345,203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D3A"/>
                          </a:solidFill>
                          <a:latin typeface="Aptos"/>
                        </a:rPr>
                        <a:t>2.01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D3A"/>
                          </a:solidFill>
                          <a:latin typeface="Aptos"/>
                        </a:rPr>
                        <a:t>39.5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D3A"/>
                          </a:solidFill>
                          <a:latin typeface="Aptos"/>
                        </a:rPr>
                        <a:t>Wheat</a:t>
                      </a:r>
                    </a:p>
                  </a:txBody>
                  <a:tcPr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D3A"/>
                          </a:solidFill>
                          <a:latin typeface="Aptos"/>
                        </a:rPr>
                        <a:t>179,772</a:t>
                      </a:r>
                    </a:p>
                  </a:txBody>
                  <a:tcPr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D3A"/>
                          </a:solidFill>
                          <a:latin typeface="Aptos"/>
                        </a:rPr>
                        <a:t>2.03</a:t>
                      </a:r>
                    </a:p>
                  </a:txBody>
                  <a:tcPr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D3A"/>
                          </a:solidFill>
                          <a:latin typeface="Aptos"/>
                        </a:rPr>
                        <a:t>35.8</a:t>
                      </a:r>
                    </a:p>
                  </a:txBody>
                  <a:tcPr>
                    <a:solidFill>
                      <a:srgbClr val="EFF5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14400" y="5440680"/>
            <a:ext cx="10058400" cy="36576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400" b="1">
                <a:solidFill>
                  <a:srgbClr val="E0A44A"/>
                </a:solidFill>
                <a:latin typeface="Aptos"/>
              </a:rPr>
              <a:t>Chilli ranks first on mean profit; Rice ranks first on yield.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547104"/>
            <a:ext cx="11155680" cy="10972"/>
          </a:xfrm>
          <a:prstGeom prst="rect">
            <a:avLst/>
          </a:prstGeom>
          <a:solidFill>
            <a:srgbClr val="D8E1E6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6601968"/>
            <a:ext cx="658368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800" b="0">
                <a:solidFill>
                  <a:srgbClr val="637180"/>
                </a:solidFill>
                <a:latin typeface="Aptos"/>
              </a:rPr>
              <a:t>Seasonal Agriculture Performance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0" y="6601968"/>
            <a:ext cx="210312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/>
            <a:r>
              <a:rPr sz="800" b="0">
                <a:solidFill>
                  <a:srgbClr val="637180"/>
                </a:solidFill>
                <a:latin typeface="Aptos"/>
              </a:rPr>
              <a:t>Badal Chaudhary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B7A5C"/>
          </a:solidFill>
          <a:ln>
            <a:solidFill>
              <a:srgbClr val="2B7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051560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600" b="1">
                <a:solidFill>
                  <a:srgbClr val="0F2747"/>
                </a:solidFill>
                <a:latin typeface="Aptos"/>
              </a:rPr>
              <a:t>Irrigation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60704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100" b="0">
                <a:solidFill>
                  <a:srgbClr val="637180"/>
                </a:solidFill>
                <a:latin typeface="Aptos"/>
              </a:rPr>
              <a:t>Sprinkler has the highest observed mean yield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84048"/>
            <a:ext cx="50292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/>
            <a:r>
              <a:rPr sz="1200" b="1">
                <a:solidFill>
                  <a:srgbClr val="2B7A5C"/>
                </a:solidFill>
                <a:latin typeface="Aptos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298448"/>
            <a:ext cx="5943600" cy="3200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800" b="1">
                <a:solidFill>
                  <a:srgbClr val="0F2747"/>
                </a:solidFill>
                <a:latin typeface="Aptos"/>
              </a:rPr>
              <a:t>Yield, profit and water efficiency by method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68680" y="1737360"/>
          <a:ext cx="1046988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3976"/>
                <a:gridCol w="2093976"/>
                <a:gridCol w="2093976"/>
                <a:gridCol w="2093976"/>
                <a:gridCol w="2093976"/>
              </a:tblGrid>
              <a:tr h="493776"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  <a:latin typeface="Aptos"/>
                        </a:rPr>
                        <a:t>Method</a:t>
                      </a:r>
                    </a:p>
                  </a:txBody>
                  <a:tcPr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  <a:latin typeface="Aptos"/>
                        </a:rPr>
                        <a:t>Yield (t/ha)</a:t>
                      </a:r>
                    </a:p>
                  </a:txBody>
                  <a:tcPr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  <a:latin typeface="Aptos"/>
                        </a:rPr>
                        <a:t>Profit (INR)</a:t>
                      </a:r>
                    </a:p>
                  </a:txBody>
                  <a:tcPr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  <a:latin typeface="Aptos"/>
                        </a:rPr>
                        <a:t>Water efficiency</a:t>
                      </a:r>
                    </a:p>
                  </a:txBody>
                  <a:tcPr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  <a:latin typeface="Aptos"/>
                        </a:rPr>
                        <a:t>Water used (m³)</a:t>
                      </a:r>
                    </a:p>
                  </a:txBody>
                  <a:tcPr>
                    <a:solidFill>
                      <a:srgbClr val="0F2747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D3A"/>
                          </a:solidFill>
                          <a:latin typeface="Aptos"/>
                        </a:rPr>
                        <a:t>Sprinkler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D3A"/>
                          </a:solidFill>
                          <a:latin typeface="Aptos"/>
                        </a:rPr>
                        <a:t>2.78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D3A"/>
                          </a:solidFill>
                          <a:latin typeface="Aptos"/>
                        </a:rPr>
                        <a:t>344,212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D3A"/>
                          </a:solidFill>
                          <a:latin typeface="Aptos"/>
                        </a:rPr>
                        <a:t>7.63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D3A"/>
                          </a:solidFill>
                          <a:latin typeface="Aptos"/>
                        </a:rPr>
                        <a:t>2,234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D3A"/>
                          </a:solidFill>
                          <a:latin typeface="Aptos"/>
                        </a:rPr>
                        <a:t>Flood</a:t>
                      </a:r>
                    </a:p>
                  </a:txBody>
                  <a:tcPr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D3A"/>
                          </a:solidFill>
                          <a:latin typeface="Aptos"/>
                        </a:rPr>
                        <a:t>2.43</a:t>
                      </a:r>
                    </a:p>
                  </a:txBody>
                  <a:tcPr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D3A"/>
                          </a:solidFill>
                          <a:latin typeface="Aptos"/>
                        </a:rPr>
                        <a:t>503,341</a:t>
                      </a:r>
                    </a:p>
                  </a:txBody>
                  <a:tcPr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D3A"/>
                          </a:solidFill>
                          <a:latin typeface="Aptos"/>
                        </a:rPr>
                        <a:t>7.43</a:t>
                      </a:r>
                    </a:p>
                  </a:txBody>
                  <a:tcPr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D3A"/>
                          </a:solidFill>
                          <a:latin typeface="Aptos"/>
                        </a:rPr>
                        <a:t>2,285</a:t>
                      </a:r>
                    </a:p>
                  </a:txBody>
                  <a:tcPr>
                    <a:solidFill>
                      <a:srgbClr val="EFF5F7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D3A"/>
                          </a:solidFill>
                          <a:latin typeface="Aptos"/>
                        </a:rPr>
                        <a:t>Drip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D3A"/>
                          </a:solidFill>
                          <a:latin typeface="Aptos"/>
                        </a:rPr>
                        <a:t>2.35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D3A"/>
                          </a:solidFill>
                          <a:latin typeface="Aptos"/>
                        </a:rPr>
                        <a:t>416,299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D3A"/>
                          </a:solidFill>
                          <a:latin typeface="Aptos"/>
                        </a:rPr>
                        <a:t>9.22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D3A"/>
                          </a:solidFill>
                          <a:latin typeface="Aptos"/>
                        </a:rPr>
                        <a:t>2,884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D3A"/>
                          </a:solidFill>
                          <a:latin typeface="Aptos"/>
                        </a:rPr>
                        <a:t>Rainfed</a:t>
                      </a:r>
                    </a:p>
                  </a:txBody>
                  <a:tcPr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D3A"/>
                          </a:solidFill>
                          <a:latin typeface="Aptos"/>
                        </a:rPr>
                        <a:t>2.33</a:t>
                      </a:r>
                    </a:p>
                  </a:txBody>
                  <a:tcPr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D3A"/>
                          </a:solidFill>
                          <a:latin typeface="Aptos"/>
                        </a:rPr>
                        <a:t>344,463</a:t>
                      </a:r>
                    </a:p>
                  </a:txBody>
                  <a:tcPr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D3A"/>
                          </a:solidFill>
                          <a:latin typeface="Aptos"/>
                        </a:rPr>
                        <a:t>8.79</a:t>
                      </a:r>
                    </a:p>
                  </a:txBody>
                  <a:tcPr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D3A"/>
                          </a:solidFill>
                          <a:latin typeface="Aptos"/>
                        </a:rPr>
                        <a:t>2,269</a:t>
                      </a:r>
                    </a:p>
                  </a:txBody>
                  <a:tcPr>
                    <a:solidFill>
                      <a:srgbClr val="EFF5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14400" y="4709160"/>
            <a:ext cx="10058400" cy="56692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400" b="1">
                <a:solidFill>
                  <a:srgbClr val="2B7A5C"/>
                </a:solidFill>
                <a:latin typeface="Aptos"/>
              </a:rPr>
              <a:t>Sprinkler has the highest observed yield; irrigation decisions should balance yield, profit and water efficiency—not yield alone.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547104"/>
            <a:ext cx="11155680" cy="10972"/>
          </a:xfrm>
          <a:prstGeom prst="rect">
            <a:avLst/>
          </a:prstGeom>
          <a:solidFill>
            <a:srgbClr val="D8E1E6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6601968"/>
            <a:ext cx="658368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800" b="0">
                <a:solidFill>
                  <a:srgbClr val="637180"/>
                </a:solidFill>
                <a:latin typeface="Aptos"/>
              </a:rPr>
              <a:t>Seasonal Agriculture Performance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0" y="6601968"/>
            <a:ext cx="210312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/>
            <a:r>
              <a:rPr sz="800" b="0">
                <a:solidFill>
                  <a:srgbClr val="637180"/>
                </a:solidFill>
                <a:latin typeface="Aptos"/>
              </a:rPr>
              <a:t>Badal Chaudhary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B7A5C"/>
          </a:solidFill>
          <a:ln>
            <a:solidFill>
              <a:srgbClr val="2B7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051560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600" b="1">
                <a:solidFill>
                  <a:srgbClr val="0F2747"/>
                </a:solidFill>
                <a:latin typeface="Aptos"/>
              </a:rPr>
              <a:t>Profitability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60704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100" b="0">
                <a:solidFill>
                  <a:srgbClr val="637180"/>
                </a:solidFill>
                <a:latin typeface="Aptos"/>
              </a:rPr>
              <a:t>A meaningful share of records is unprofitable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84048"/>
            <a:ext cx="50292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/>
            <a:r>
              <a:rPr sz="1200" b="1">
                <a:solidFill>
                  <a:srgbClr val="2B7A5C"/>
                </a:solidFill>
                <a:latin typeface="Aptos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325880"/>
            <a:ext cx="2926080" cy="1143000"/>
          </a:xfrm>
          <a:prstGeom prst="roundRect">
            <a:avLst>
              <a:gd name="adj" fmla="val 12000"/>
            </a:avLst>
          </a:prstGeom>
          <a:solidFill>
            <a:srgbClr val="EFF5F7"/>
          </a:solidFill>
          <a:ln>
            <a:solidFill>
              <a:srgbClr val="DC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325880"/>
            <a:ext cx="73152" cy="1143000"/>
          </a:xfrm>
          <a:prstGeom prst="rect">
            <a:avLst/>
          </a:prstGeom>
          <a:solidFill>
            <a:srgbClr val="C24A43"/>
          </a:solidFill>
          <a:ln>
            <a:solidFill>
              <a:srgbClr val="C24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490472"/>
            <a:ext cx="2651760" cy="2560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900" b="1">
                <a:solidFill>
                  <a:srgbClr val="637180"/>
                </a:solidFill>
                <a:latin typeface="Aptos"/>
              </a:rPr>
              <a:t>NEGATIVE-PROFIT RECORDS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1783080"/>
            <a:ext cx="2651760" cy="43891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200" b="1">
                <a:solidFill>
                  <a:srgbClr val="0F2747"/>
                </a:solidFill>
                <a:latin typeface="Aptos"/>
              </a:rPr>
              <a:t>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77639" y="1325880"/>
            <a:ext cx="2926080" cy="1143000"/>
          </a:xfrm>
          <a:prstGeom prst="roundRect">
            <a:avLst>
              <a:gd name="adj" fmla="val 12000"/>
            </a:avLst>
          </a:prstGeom>
          <a:solidFill>
            <a:srgbClr val="EFF5F7"/>
          </a:solidFill>
          <a:ln>
            <a:solidFill>
              <a:srgbClr val="DC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977639" y="1325880"/>
            <a:ext cx="73152" cy="1143000"/>
          </a:xfrm>
          <a:prstGeom prst="rect">
            <a:avLst/>
          </a:prstGeom>
          <a:solidFill>
            <a:srgbClr val="C24A43"/>
          </a:solidFill>
          <a:ln>
            <a:solidFill>
              <a:srgbClr val="C24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42231" y="1490472"/>
            <a:ext cx="2651760" cy="2560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900" b="1">
                <a:solidFill>
                  <a:srgbClr val="637180"/>
                </a:solidFill>
                <a:latin typeface="Aptos"/>
              </a:rPr>
              <a:t>NEGATIVE-PROFIT SHARE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42231" y="1783080"/>
            <a:ext cx="2651760" cy="43891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200" b="1">
                <a:solidFill>
                  <a:srgbClr val="0F2747"/>
                </a:solidFill>
                <a:latin typeface="Aptos"/>
              </a:rPr>
              <a:t>21.67%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0" y="1325880"/>
            <a:ext cx="2926080" cy="1143000"/>
          </a:xfrm>
          <a:prstGeom prst="roundRect">
            <a:avLst>
              <a:gd name="adj" fmla="val 12000"/>
            </a:avLst>
          </a:prstGeom>
          <a:solidFill>
            <a:srgbClr val="EFF5F7"/>
          </a:solidFill>
          <a:ln>
            <a:solidFill>
              <a:srgbClr val="DC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0" y="1325880"/>
            <a:ext cx="73152" cy="1143000"/>
          </a:xfrm>
          <a:prstGeom prst="rect">
            <a:avLst/>
          </a:prstGeom>
          <a:solidFill>
            <a:srgbClr val="E0A44A"/>
          </a:solidFill>
          <a:ln>
            <a:solidFill>
              <a:srgbClr val="E0A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96912" y="1490472"/>
            <a:ext cx="2651760" cy="2560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900" b="1">
                <a:solidFill>
                  <a:srgbClr val="637180"/>
                </a:solidFill>
                <a:latin typeface="Aptos"/>
              </a:rPr>
              <a:t>PROFIT METRIC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96912" y="1783080"/>
            <a:ext cx="2651760" cy="43891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200" b="1">
                <a:solidFill>
                  <a:srgbClr val="0F2747"/>
                </a:solidFill>
                <a:latin typeface="Aptos"/>
              </a:rPr>
              <a:t>Revenue − cost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063240"/>
            <a:ext cx="5029200" cy="36576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800" b="1">
                <a:solidFill>
                  <a:srgbClr val="0F2747"/>
                </a:solidFill>
                <a:latin typeface="Aptos"/>
              </a:rPr>
              <a:t>Interpretation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456432"/>
            <a:ext cx="4937760" cy="1828800"/>
          </a:xfrm>
          <a:prstGeom prst="rect">
            <a:avLst/>
          </a:prstGeom>
          <a:noFill/>
        </p:spPr>
        <p:txBody>
          <a:bodyPr wrap="square" lIns="73152" rIns="54864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32D3A"/>
                </a:solidFill>
                <a:latin typeface="Aptos"/>
              </a:defRPr>
            </a:pPr>
            <a:r>
              <a:t>The average results are positive, but averages hide downside cases.</a:t>
            </a:r>
          </a:p>
          <a:p>
            <a:pPr>
              <a:spcAft>
                <a:spcPts val="1000"/>
              </a:spcAft>
              <a:defRPr sz="1600">
                <a:solidFill>
                  <a:srgbClr val="232D3A"/>
                </a:solidFill>
                <a:latin typeface="Aptos"/>
              </a:defRPr>
            </a:pPr>
            <a:r>
              <a:t>Risk analysis should segment by crop, season and irrigation method.</a:t>
            </a:r>
          </a:p>
          <a:p>
            <a:pPr>
              <a:spcAft>
                <a:spcPts val="1000"/>
              </a:spcAft>
              <a:defRPr sz="1600">
                <a:solidFill>
                  <a:srgbClr val="232D3A"/>
                </a:solidFill>
                <a:latin typeface="Aptos"/>
              </a:defRPr>
            </a:pPr>
            <a:r>
              <a:t>Negative-profit rows deserve a targeted review of cost, disease/pest risk and water use.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063240"/>
            <a:ext cx="4754880" cy="1965960"/>
          </a:xfrm>
          <a:prstGeom prst="roundRect">
            <a:avLst>
              <a:gd name="adj" fmla="val 12000"/>
            </a:avLst>
          </a:prstGeom>
          <a:solidFill>
            <a:srgbClr val="FFF7EF"/>
          </a:solidFill>
          <a:ln>
            <a:solidFill>
              <a:srgbClr val="EFD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3364992"/>
            <a:ext cx="420624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600" b="1">
                <a:solidFill>
                  <a:srgbClr val="E0A44A"/>
                </a:solidFill>
                <a:latin typeface="Aptos"/>
              </a:rPr>
              <a:t>Management implication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794760"/>
            <a:ext cx="4069080" cy="82296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600" b="1">
                <a:solidFill>
                  <a:srgbClr val="232D3A"/>
                </a:solidFill>
                <a:latin typeface="Aptos"/>
              </a:rPr>
              <a:t>Do not select a crop or irrigation method using a single KPI. Use a balanced scorecard of yield, profit, water efficiency and risk.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6547104"/>
            <a:ext cx="11155680" cy="10972"/>
          </a:xfrm>
          <a:prstGeom prst="rect">
            <a:avLst/>
          </a:prstGeom>
          <a:solidFill>
            <a:srgbClr val="D8E1E6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" y="6601968"/>
            <a:ext cx="658368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800" b="0">
                <a:solidFill>
                  <a:srgbClr val="637180"/>
                </a:solidFill>
                <a:latin typeface="Aptos"/>
              </a:rPr>
              <a:t>Seasonal Agriculture Performance Analysis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0" y="6601968"/>
            <a:ext cx="210312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/>
            <a:r>
              <a:rPr sz="800" b="0">
                <a:solidFill>
                  <a:srgbClr val="637180"/>
                </a:solidFill>
                <a:latin typeface="Aptos"/>
              </a:rPr>
              <a:t>Badal Chaudhary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B7A5C"/>
          </a:solidFill>
          <a:ln>
            <a:solidFill>
              <a:srgbClr val="2B7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051560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600" b="1">
                <a:solidFill>
                  <a:srgbClr val="0F2747"/>
                </a:solidFill>
                <a:latin typeface="Aptos"/>
              </a:rPr>
              <a:t>Data quality and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60704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100" b="0">
                <a:solidFill>
                  <a:srgbClr val="637180"/>
                </a:solidFill>
                <a:latin typeface="Aptos"/>
              </a:rPr>
              <a:t>Checks completed before reporting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84048"/>
            <a:ext cx="50292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/>
            <a:r>
              <a:rPr sz="1200" b="1">
                <a:solidFill>
                  <a:srgbClr val="2B7A5C"/>
                </a:solidFill>
                <a:latin typeface="Aptos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325880"/>
            <a:ext cx="10332720" cy="521207"/>
          </a:xfrm>
          <a:prstGeom prst="roundRect">
            <a:avLst>
              <a:gd name="adj" fmla="val 12000"/>
            </a:avLst>
          </a:prstGeom>
          <a:solidFill>
            <a:srgbClr val="EFF5F7"/>
          </a:solidFill>
          <a:ln>
            <a:solidFill>
              <a:srgbClr val="DC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453895"/>
            <a:ext cx="4846320" cy="2286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500" b="1">
                <a:solidFill>
                  <a:srgbClr val="232D3A"/>
                </a:solidFill>
                <a:latin typeface="Aptos"/>
              </a:rPr>
              <a:t>Duplicate farm IDs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453895"/>
            <a:ext cx="2011680" cy="2286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500" b="1">
                <a:solidFill>
                  <a:srgbClr val="0F2747"/>
                </a:solidFill>
                <a:latin typeface="Aptos"/>
              </a:rPr>
              <a:t>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18320" y="1426464"/>
            <a:ext cx="1143000" cy="320040"/>
          </a:xfrm>
          <a:prstGeom prst="roundRect">
            <a:avLst>
              <a:gd name="adj" fmla="val 12000"/>
            </a:avLst>
          </a:prstGeom>
          <a:solidFill>
            <a:srgbClr val="2B7A5C"/>
          </a:solidFill>
          <a:ln>
            <a:solidFill>
              <a:srgbClr val="2B7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0" y="1490472"/>
            <a:ext cx="1143000" cy="146304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PASS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2039112"/>
            <a:ext cx="10332720" cy="521207"/>
          </a:xfrm>
          <a:prstGeom prst="roundRect">
            <a:avLst>
              <a:gd name="adj" fmla="val 12000"/>
            </a:avLst>
          </a:prstGeom>
          <a:solidFill>
            <a:srgbClr val="EFF5F7"/>
          </a:solidFill>
          <a:ln>
            <a:solidFill>
              <a:srgbClr val="DC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167128"/>
            <a:ext cx="4846320" cy="2286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500" b="1">
                <a:solidFill>
                  <a:srgbClr val="232D3A"/>
                </a:solidFill>
                <a:latin typeface="Aptos"/>
              </a:rPr>
              <a:t>Rows analysed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167128"/>
            <a:ext cx="2011680" cy="2286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500" b="1">
                <a:solidFill>
                  <a:srgbClr val="0F2747"/>
                </a:solidFill>
                <a:latin typeface="Aptos"/>
              </a:rPr>
              <a:t>120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18320" y="2139696"/>
            <a:ext cx="1143000" cy="320040"/>
          </a:xfrm>
          <a:prstGeom prst="roundRect">
            <a:avLst>
              <a:gd name="adj" fmla="val 12000"/>
            </a:avLst>
          </a:prstGeom>
          <a:solidFill>
            <a:srgbClr val="2B7A5C"/>
          </a:solidFill>
          <a:ln>
            <a:solidFill>
              <a:srgbClr val="2B7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0" y="2203704"/>
            <a:ext cx="1143000" cy="146304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PASS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2752344"/>
            <a:ext cx="10332720" cy="521207"/>
          </a:xfrm>
          <a:prstGeom prst="roundRect">
            <a:avLst>
              <a:gd name="adj" fmla="val 12000"/>
            </a:avLst>
          </a:prstGeom>
          <a:solidFill>
            <a:srgbClr val="EFF5F7"/>
          </a:solidFill>
          <a:ln>
            <a:solidFill>
              <a:srgbClr val="DC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2880360"/>
            <a:ext cx="4846320" cy="2286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500" b="1">
                <a:solidFill>
                  <a:srgbClr val="232D3A"/>
                </a:solidFill>
                <a:latin typeface="Aptos"/>
              </a:rPr>
              <a:t>Columns available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880360"/>
            <a:ext cx="2011680" cy="2286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500" b="1">
                <a:solidFill>
                  <a:srgbClr val="0F2747"/>
                </a:solidFill>
                <a:latin typeface="Aptos"/>
              </a:rPr>
              <a:t>28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18320" y="2852927"/>
            <a:ext cx="1143000" cy="320040"/>
          </a:xfrm>
          <a:prstGeom prst="roundRect">
            <a:avLst>
              <a:gd name="adj" fmla="val 12000"/>
            </a:avLst>
          </a:prstGeom>
          <a:solidFill>
            <a:srgbClr val="2B7A5C"/>
          </a:solidFill>
          <a:ln>
            <a:solidFill>
              <a:srgbClr val="2B7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0" y="2916936"/>
            <a:ext cx="1143000" cy="146304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PASS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3465576"/>
            <a:ext cx="10332720" cy="521207"/>
          </a:xfrm>
          <a:prstGeom prst="roundRect">
            <a:avLst>
              <a:gd name="adj" fmla="val 12000"/>
            </a:avLst>
          </a:prstGeom>
          <a:solidFill>
            <a:srgbClr val="EFF5F7"/>
          </a:solidFill>
          <a:ln>
            <a:solidFill>
              <a:srgbClr val="DC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3593592"/>
            <a:ext cx="4846320" cy="2286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500" b="1">
                <a:solidFill>
                  <a:srgbClr val="232D3A"/>
                </a:solidFill>
                <a:latin typeface="Aptos"/>
              </a:rPr>
              <a:t>Seasons found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593592"/>
            <a:ext cx="2011680" cy="2286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500" b="1">
                <a:solidFill>
                  <a:srgbClr val="0F2747"/>
                </a:solidFill>
                <a:latin typeface="Aptos"/>
              </a:rPr>
              <a:t>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18320" y="3566160"/>
            <a:ext cx="1143000" cy="320040"/>
          </a:xfrm>
          <a:prstGeom prst="roundRect">
            <a:avLst>
              <a:gd name="adj" fmla="val 12000"/>
            </a:avLst>
          </a:prstGeom>
          <a:solidFill>
            <a:srgbClr val="2B7A5C"/>
          </a:solidFill>
          <a:ln>
            <a:solidFill>
              <a:srgbClr val="2B7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20" y="3630168"/>
            <a:ext cx="1143000" cy="146304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PASS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" y="4178808"/>
            <a:ext cx="10332720" cy="521207"/>
          </a:xfrm>
          <a:prstGeom prst="roundRect">
            <a:avLst>
              <a:gd name="adj" fmla="val 12000"/>
            </a:avLst>
          </a:prstGeom>
          <a:solidFill>
            <a:srgbClr val="EFF5F7"/>
          </a:solidFill>
          <a:ln>
            <a:solidFill>
              <a:srgbClr val="DC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4306824"/>
            <a:ext cx="4846320" cy="2286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500" b="1">
                <a:solidFill>
                  <a:srgbClr val="232D3A"/>
                </a:solidFill>
                <a:latin typeface="Aptos"/>
              </a:rPr>
              <a:t>Crops found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306824"/>
            <a:ext cx="2011680" cy="2286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500" b="1">
                <a:solidFill>
                  <a:srgbClr val="0F2747"/>
                </a:solidFill>
                <a:latin typeface="Aptos"/>
              </a:rPr>
              <a:t>8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18320" y="4279392"/>
            <a:ext cx="1143000" cy="320040"/>
          </a:xfrm>
          <a:prstGeom prst="roundRect">
            <a:avLst>
              <a:gd name="adj" fmla="val 12000"/>
            </a:avLst>
          </a:prstGeom>
          <a:solidFill>
            <a:srgbClr val="2B7A5C"/>
          </a:solidFill>
          <a:ln>
            <a:solidFill>
              <a:srgbClr val="2B7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18320" y="4343400"/>
            <a:ext cx="1143000" cy="146304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PASS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257800"/>
            <a:ext cx="10058400" cy="5029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500" b="1">
                <a:solidFill>
                  <a:srgbClr val="C24A43"/>
                </a:solidFill>
                <a:latin typeface="Aptos"/>
              </a:rPr>
              <a:t>The sample is suitable for a reproducible smoke test. Replace it with the full CSV for final operational analysis.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6547104"/>
            <a:ext cx="11155680" cy="10972"/>
          </a:xfrm>
          <a:prstGeom prst="rect">
            <a:avLst/>
          </a:prstGeom>
          <a:solidFill>
            <a:srgbClr val="D8E1E6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0352" y="6601968"/>
            <a:ext cx="658368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800" b="0">
                <a:solidFill>
                  <a:srgbClr val="637180"/>
                </a:solidFill>
                <a:latin typeface="Aptos"/>
              </a:rPr>
              <a:t>Seasonal Agriculture Performance Analysis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09760" y="6601968"/>
            <a:ext cx="210312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/>
            <a:r>
              <a:rPr sz="800" b="0">
                <a:solidFill>
                  <a:srgbClr val="637180"/>
                </a:solidFill>
                <a:latin typeface="Aptos"/>
              </a:rPr>
              <a:t>Badal Chaudhary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B7A5C"/>
          </a:solidFill>
          <a:ln>
            <a:solidFill>
              <a:srgbClr val="2B7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051560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600" b="1">
                <a:solidFill>
                  <a:srgbClr val="0F2747"/>
                </a:solidFill>
                <a:latin typeface="Aptos"/>
              </a:rPr>
              <a:t>Dashboard and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60704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100" b="0">
                <a:solidFill>
                  <a:srgbClr val="637180"/>
                </a:solidFill>
                <a:latin typeface="Aptos"/>
              </a:rPr>
              <a:t>Everything needed to rerun and present the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84048"/>
            <a:ext cx="50292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/>
            <a:r>
              <a:rPr sz="1200" b="1">
                <a:solidFill>
                  <a:srgbClr val="2B7A5C"/>
                </a:solidFill>
                <a:latin typeface="Aptos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325880"/>
            <a:ext cx="4892040" cy="841248"/>
          </a:xfrm>
          <a:prstGeom prst="roundRect">
            <a:avLst>
              <a:gd name="adj" fmla="val 12000"/>
            </a:avLst>
          </a:prstGeom>
          <a:solidFill>
            <a:srgbClr val="EFF5F7"/>
          </a:solidFill>
          <a:ln>
            <a:solidFill>
              <a:srgbClr val="DC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453895"/>
            <a:ext cx="201168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300" b="1">
                <a:solidFill>
                  <a:srgbClr val="2B7A5C"/>
                </a:solidFill>
                <a:latin typeface="Aptos"/>
              </a:rPr>
              <a:t>app.py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453895"/>
            <a:ext cx="2606040" cy="3840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200" b="0">
                <a:solidFill>
                  <a:srgbClr val="232D3A"/>
                </a:solidFill>
                <a:latin typeface="Aptos"/>
              </a:rPr>
              <a:t>Interactive Streamlit dashboard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25880"/>
            <a:ext cx="4892040" cy="841248"/>
          </a:xfrm>
          <a:prstGeom prst="roundRect">
            <a:avLst>
              <a:gd name="adj" fmla="val 12000"/>
            </a:avLst>
          </a:prstGeom>
          <a:solidFill>
            <a:srgbClr val="EFF5F7"/>
          </a:solidFill>
          <a:ln>
            <a:solidFill>
              <a:srgbClr val="DC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0528" y="1453895"/>
            <a:ext cx="201168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300" b="1">
                <a:solidFill>
                  <a:srgbClr val="2B7A5C"/>
                </a:solidFill>
                <a:latin typeface="Aptos"/>
              </a:rPr>
              <a:t>src/analysis.py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1453895"/>
            <a:ext cx="2606040" cy="3840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200" b="0">
                <a:solidFill>
                  <a:srgbClr val="232D3A"/>
                </a:solidFill>
                <a:latin typeface="Aptos"/>
              </a:rPr>
              <a:t>Reusable command-line analysis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560320"/>
            <a:ext cx="4892040" cy="841248"/>
          </a:xfrm>
          <a:prstGeom prst="roundRect">
            <a:avLst>
              <a:gd name="adj" fmla="val 12000"/>
            </a:avLst>
          </a:prstGeom>
          <a:solidFill>
            <a:srgbClr val="EFF5F7"/>
          </a:solidFill>
          <a:ln>
            <a:solidFill>
              <a:srgbClr val="DC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2688336"/>
            <a:ext cx="201168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300" b="1">
                <a:solidFill>
                  <a:srgbClr val="2B7A5C"/>
                </a:solidFill>
                <a:latin typeface="Aptos"/>
              </a:rPr>
              <a:t>notebooks/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2688336"/>
            <a:ext cx="2606040" cy="3840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200" b="0">
                <a:solidFill>
                  <a:srgbClr val="232D3A"/>
                </a:solidFill>
                <a:latin typeface="Aptos"/>
              </a:rPr>
              <a:t>Step-by-step Jupyter notebook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2560320"/>
            <a:ext cx="4892040" cy="841248"/>
          </a:xfrm>
          <a:prstGeom prst="roundRect">
            <a:avLst>
              <a:gd name="adj" fmla="val 12000"/>
            </a:avLst>
          </a:prstGeom>
          <a:solidFill>
            <a:srgbClr val="EFF5F7"/>
          </a:solidFill>
          <a:ln>
            <a:solidFill>
              <a:srgbClr val="DC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0528" y="2688336"/>
            <a:ext cx="201168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300" b="1">
                <a:solidFill>
                  <a:srgbClr val="2B7A5C"/>
                </a:solidFill>
                <a:latin typeface="Aptos"/>
              </a:rPr>
              <a:t>outputs/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688336"/>
            <a:ext cx="2606040" cy="3840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200" b="0">
                <a:solidFill>
                  <a:srgbClr val="232D3A"/>
                </a:solidFill>
                <a:latin typeface="Aptos"/>
              </a:rPr>
              <a:t>Cleaned data and summary reports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794760"/>
            <a:ext cx="4892040" cy="841248"/>
          </a:xfrm>
          <a:prstGeom prst="roundRect">
            <a:avLst>
              <a:gd name="adj" fmla="val 12000"/>
            </a:avLst>
          </a:prstGeom>
          <a:solidFill>
            <a:srgbClr val="EFF5F7"/>
          </a:solidFill>
          <a:ln>
            <a:solidFill>
              <a:srgbClr val="DC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" y="3922776"/>
            <a:ext cx="201168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300" b="1">
                <a:solidFill>
                  <a:srgbClr val="2B7A5C"/>
                </a:solidFill>
                <a:latin typeface="Aptos"/>
              </a:rPr>
              <a:t>data/sample/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3922776"/>
            <a:ext cx="2606040" cy="3840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200" b="0">
                <a:solidFill>
                  <a:srgbClr val="232D3A"/>
                </a:solidFill>
                <a:latin typeface="Aptos"/>
              </a:rPr>
              <a:t>Included smoke-test dataset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3794760"/>
            <a:ext cx="4892040" cy="841248"/>
          </a:xfrm>
          <a:prstGeom prst="roundRect">
            <a:avLst>
              <a:gd name="adj" fmla="val 12000"/>
            </a:avLst>
          </a:prstGeom>
          <a:solidFill>
            <a:srgbClr val="EFF5F7"/>
          </a:solidFill>
          <a:ln>
            <a:solidFill>
              <a:srgbClr val="DC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0528" y="3922776"/>
            <a:ext cx="201168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300" b="1">
                <a:solidFill>
                  <a:srgbClr val="2B7A5C"/>
                </a:solidFill>
                <a:latin typeface="Aptos"/>
              </a:rPr>
              <a:t>*.pptx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3922776"/>
            <a:ext cx="2606040" cy="3840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200" b="0">
                <a:solidFill>
                  <a:srgbClr val="232D3A"/>
                </a:solidFill>
                <a:latin typeface="Aptos"/>
              </a:rPr>
              <a:t>Presentation for submission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349240"/>
            <a:ext cx="10241280" cy="36576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500" b="1">
                <a:solidFill>
                  <a:srgbClr val="0F2747"/>
                </a:solidFill>
                <a:latin typeface="Aptos"/>
              </a:rPr>
              <a:t>Run locally: pip install -r requirements.txt  |  streamlit run app.py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6547104"/>
            <a:ext cx="11155680" cy="10972"/>
          </a:xfrm>
          <a:prstGeom prst="rect">
            <a:avLst/>
          </a:prstGeom>
          <a:solidFill>
            <a:srgbClr val="D8E1E6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6601968"/>
            <a:ext cx="658368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800" b="0">
                <a:solidFill>
                  <a:srgbClr val="637180"/>
                </a:solidFill>
                <a:latin typeface="Aptos"/>
              </a:rPr>
              <a:t>Seasonal Agriculture Performance Analysis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0" y="6601968"/>
            <a:ext cx="210312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/>
            <a:r>
              <a:rPr sz="800" b="0">
                <a:solidFill>
                  <a:srgbClr val="637180"/>
                </a:solidFill>
                <a:latin typeface="Aptos"/>
              </a:rPr>
              <a:t>Badal Chaudhary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B7A5C"/>
          </a:solidFill>
          <a:ln>
            <a:solidFill>
              <a:srgbClr val="2B7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051560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600" b="1">
                <a:solidFill>
                  <a:srgbClr val="0F2747"/>
                </a:solidFill>
                <a:latin typeface="Aptos"/>
              </a:rPr>
              <a:t>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60704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100" b="0">
                <a:solidFill>
                  <a:srgbClr val="637180"/>
                </a:solidFill>
                <a:latin typeface="Aptos"/>
              </a:rPr>
              <a:t>Practical actions suggested by the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84048"/>
            <a:ext cx="50292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/>
            <a:r>
              <a:rPr sz="1200" b="1">
                <a:solidFill>
                  <a:srgbClr val="2B7A5C"/>
                </a:solidFill>
                <a:latin typeface="Aptos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234440"/>
            <a:ext cx="10515600" cy="841248"/>
          </a:xfrm>
          <a:prstGeom prst="roundRect">
            <a:avLst>
              <a:gd name="adj" fmla="val 12000"/>
            </a:avLst>
          </a:prstGeom>
          <a:solidFill>
            <a:srgbClr val="EFF5F7"/>
          </a:solidFill>
          <a:ln>
            <a:solidFill>
              <a:srgbClr val="DC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24128" y="1380744"/>
            <a:ext cx="640080" cy="502920"/>
          </a:xfrm>
          <a:prstGeom prst="roundRect">
            <a:avLst>
              <a:gd name="adj" fmla="val 12000"/>
            </a:avLst>
          </a:prstGeom>
          <a:solidFill>
            <a:srgbClr val="2B7A5C"/>
          </a:solidFill>
          <a:ln>
            <a:solidFill>
              <a:srgbClr val="2B7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1517904"/>
            <a:ext cx="64008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371600"/>
            <a:ext cx="3749039" cy="2286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600" b="1">
                <a:solidFill>
                  <a:srgbClr val="0F2747"/>
                </a:solidFill>
                <a:latin typeface="Aptos"/>
              </a:rPr>
              <a:t>Prioritise profitable seasons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1673352"/>
            <a:ext cx="8686800" cy="21945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200" b="0">
                <a:solidFill>
                  <a:srgbClr val="232D3A"/>
                </a:solidFill>
                <a:latin typeface="Aptos"/>
              </a:rPr>
              <a:t>Use Zaid and Kharif results as benchmarks, while monitoring variability.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377440"/>
            <a:ext cx="10515600" cy="841248"/>
          </a:xfrm>
          <a:prstGeom prst="roundRect">
            <a:avLst>
              <a:gd name="adj" fmla="val 12000"/>
            </a:avLst>
          </a:prstGeom>
          <a:solidFill>
            <a:srgbClr val="EFF5F7"/>
          </a:solidFill>
          <a:ln>
            <a:solidFill>
              <a:srgbClr val="DC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24128" y="2523744"/>
            <a:ext cx="640080" cy="502920"/>
          </a:xfrm>
          <a:prstGeom prst="roundRect">
            <a:avLst>
              <a:gd name="adj" fmla="val 12000"/>
            </a:avLst>
          </a:prstGeom>
          <a:solidFill>
            <a:srgbClr val="2B7A5C"/>
          </a:solidFill>
          <a:ln>
            <a:solidFill>
              <a:srgbClr val="2B7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2660904"/>
            <a:ext cx="64008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514600"/>
            <a:ext cx="3749039" cy="2286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600" b="1">
                <a:solidFill>
                  <a:srgbClr val="0F2747"/>
                </a:solidFill>
                <a:latin typeface="Aptos"/>
              </a:rPr>
              <a:t>Test irrigation trade-offs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2816352"/>
            <a:ext cx="8686800" cy="21945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200" b="0">
                <a:solidFill>
                  <a:srgbClr val="232D3A"/>
                </a:solidFill>
                <a:latin typeface="Aptos"/>
              </a:rPr>
              <a:t>Sprinkler leads yield; compare its economics and water profile before scaling.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520440"/>
            <a:ext cx="10515600" cy="841248"/>
          </a:xfrm>
          <a:prstGeom prst="roundRect">
            <a:avLst>
              <a:gd name="adj" fmla="val 12000"/>
            </a:avLst>
          </a:prstGeom>
          <a:solidFill>
            <a:srgbClr val="EFF5F7"/>
          </a:solidFill>
          <a:ln>
            <a:solidFill>
              <a:srgbClr val="DC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24128" y="3666744"/>
            <a:ext cx="640080" cy="502920"/>
          </a:xfrm>
          <a:prstGeom prst="roundRect">
            <a:avLst>
              <a:gd name="adj" fmla="val 12000"/>
            </a:avLst>
          </a:prstGeom>
          <a:solidFill>
            <a:srgbClr val="E0A44A"/>
          </a:solidFill>
          <a:ln>
            <a:solidFill>
              <a:srgbClr val="2B7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3803904"/>
            <a:ext cx="64008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3657600"/>
            <a:ext cx="3749039" cy="2286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600" b="1">
                <a:solidFill>
                  <a:srgbClr val="0F2747"/>
                </a:solidFill>
                <a:latin typeface="Aptos"/>
              </a:rPr>
              <a:t>Review crop mix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19" y="3959352"/>
            <a:ext cx="8686800" cy="21945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200" b="0">
                <a:solidFill>
                  <a:srgbClr val="232D3A"/>
                </a:solidFill>
                <a:latin typeface="Aptos"/>
              </a:rPr>
              <a:t>Use Chilli for profit and Rice for yield only when risk and cost are acceptable.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663440"/>
            <a:ext cx="10515600" cy="841248"/>
          </a:xfrm>
          <a:prstGeom prst="roundRect">
            <a:avLst>
              <a:gd name="adj" fmla="val 12000"/>
            </a:avLst>
          </a:prstGeom>
          <a:solidFill>
            <a:srgbClr val="EFF5F7"/>
          </a:solidFill>
          <a:ln>
            <a:solidFill>
              <a:srgbClr val="DC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24128" y="4809744"/>
            <a:ext cx="640080" cy="502920"/>
          </a:xfrm>
          <a:prstGeom prst="roundRect">
            <a:avLst>
              <a:gd name="adj" fmla="val 12000"/>
            </a:avLst>
          </a:prstGeom>
          <a:solidFill>
            <a:srgbClr val="C24A43"/>
          </a:solidFill>
          <a:ln>
            <a:solidFill>
              <a:srgbClr val="2B7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4128" y="4946903"/>
            <a:ext cx="64008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4519" y="4800600"/>
            <a:ext cx="3749039" cy="2286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600" b="1">
                <a:solidFill>
                  <a:srgbClr val="0F2747"/>
                </a:solidFill>
                <a:latin typeface="Aptos"/>
              </a:rPr>
              <a:t>Investigate loss cases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4519" y="5102352"/>
            <a:ext cx="8686800" cy="21945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200" b="0">
                <a:solidFill>
                  <a:srgbClr val="232D3A"/>
                </a:solidFill>
                <a:latin typeface="Aptos"/>
              </a:rPr>
              <a:t>Segment the 21.67% negative-profit records to identify avoidable drivers.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6547104"/>
            <a:ext cx="11155680" cy="10972"/>
          </a:xfrm>
          <a:prstGeom prst="rect">
            <a:avLst/>
          </a:prstGeom>
          <a:solidFill>
            <a:srgbClr val="D8E1E6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0352" y="6601968"/>
            <a:ext cx="658368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800" b="0">
                <a:solidFill>
                  <a:srgbClr val="637180"/>
                </a:solidFill>
                <a:latin typeface="Aptos"/>
              </a:rPr>
              <a:t>Seasonal Agriculture Performance Analysis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0" y="6601968"/>
            <a:ext cx="210312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/>
            <a:r>
              <a:rPr sz="800" b="0">
                <a:solidFill>
                  <a:srgbClr val="637180"/>
                </a:solidFill>
                <a:latin typeface="Aptos"/>
              </a:rPr>
              <a:t>Badal Chaudhary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7"/>
          </a:solidFill>
          <a:ln>
            <a:solidFill>
              <a:srgbClr val="0F2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B7A5C"/>
          </a:solidFill>
          <a:ln>
            <a:solidFill>
              <a:srgbClr val="2B7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515600" cy="5029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ptos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691640"/>
            <a:ext cx="9875520" cy="7315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100" b="1">
                <a:solidFill>
                  <a:srgbClr val="DCEDE3"/>
                </a:solidFill>
                <a:latin typeface="Aptos"/>
              </a:rPr>
              <a:t>The analysis turns 120 farm records into a clear decision framework for seasonal planning, crop selection, irrigation comparison and profitability risk.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017520"/>
            <a:ext cx="10332720" cy="1417320"/>
          </a:xfrm>
          <a:prstGeom prst="roundRect">
            <a:avLst>
              <a:gd name="adj" fmla="val 12000"/>
            </a:avLst>
          </a:prstGeom>
          <a:solidFill>
            <a:srgbClr val="1B4065"/>
          </a:solidFill>
          <a:ln>
            <a:solidFill>
              <a:srgbClr val="375F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3310128"/>
            <a:ext cx="960120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100" b="1">
                <a:solidFill>
                  <a:srgbClr val="B1DCC5"/>
                </a:solidFill>
                <a:latin typeface="Aptos"/>
              </a:rPr>
              <a:t>NEXT STEP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685032"/>
            <a:ext cx="9601200" cy="3840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Replace the sample data with the full dataset and rerun the same pipeline.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870448"/>
            <a:ext cx="5852160" cy="2286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236208"/>
            <a:ext cx="5852160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000" b="0">
                <a:solidFill>
                  <a:srgbClr val="D2E0E9"/>
                </a:solidFill>
                <a:latin typeface="Aptos"/>
              </a:rPr>
              <a:t>Badal Chaudhary • STU6a30b8115dd5c1781577745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Seasonal Agriculture Performance Analysis</dc:title>
  <dc:subject>Agricultural performance, profitability and irrigation analysis</dc:subject>
  <dc:creator>Badal Chaudhary</dc:creator>
  <cp:keywords/>
  <dc:description>Rebuilt presentation generated from the verified analysis outputs.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