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package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2800000" cy="6858000"/>
          </a:xfrm>
          <a:prstGeom prst="rect">
            <a:avLst/>
          </a:prstGeom>
          <a:solidFill>
            <a:srgbClr val="1F59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 4"/>
          <p:cNvSpPr/>
          <p:nvPr/>
        </p:nvSpPr>
        <p:spPr>
          <a:xfrm>
            <a:off x="700000" y="900000"/>
            <a:ext cx="10500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SEASONAL AGRICULTURE</a:t>
            </a:r>
            <a:br/>
            <a:r>
              <a:rPr lang="en-US" sz="3000" b="1">
                <a:solidFill>
                  <a:srgbClr val="1F593E"/>
                </a:solidFill>
              </a:rPr>
              <a:t>PERFORMANCE ANALYSIS</a:t>
            </a:r>
          </a:p>
        </p:txBody>
      </p:sp>
      <p:sp>
        <p:nvSpPr>
          <p:cNvPr id="5" name="TextBox 5"/>
          <p:cNvSpPr/>
          <p:nvPr/>
        </p:nvSpPr>
        <p:spPr>
          <a:xfrm>
            <a:off x="700000" y="3500000"/>
            <a:ext cx="1050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Major Project Submission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Presented by: Badal Chaudhary</a:t>
            </a:r>
            <a:br/>
            <a:r>
              <a:rPr lang="en-US" sz="1900">
                <a:solidFill>
                  <a:srgbClr val="243125"/>
                </a:solidFill>
              </a:rPr>
              <a:t>Student ID / Roll No.: STU6a30b8115dd5c1781577745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VOIS AICTE Batch 1  | 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Project context and problem statement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Agricultural performance is influenced by seasonal weather, resource availability, farm practices and market conditions.</a:t>
            </a:r>
            <a:br/>
            <a:r>
              <a:rPr lang="en-US" sz="1900">
                <a:solidFill>
                  <a:srgbClr val="243125"/>
                </a:solidFill>
              </a:rPr>
              <a:t>• Raw records do not directly explain how performance differs across Kharif, Rabi and Zaid.</a:t>
            </a:r>
            <a:br/>
            <a:r>
              <a:rPr lang="en-US" sz="1900">
                <a:solidFill>
                  <a:srgbClr val="243125"/>
                </a:solidFill>
              </a:rPr>
              <a:t>• This project converts the 4,000-row dataset into defensible seasonal comparisons, relationships and recommendations.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Objectives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Explore and prepare the data: validate structure, types, missing values and duplicate Farm_ID records.</a:t>
            </a:r>
            <a:br/>
            <a:r>
              <a:rPr lang="en-US" sz="1900">
                <a:solidFill>
                  <a:srgbClr val="243125"/>
                </a:solidFill>
              </a:rPr>
              <a:t>• Compare seasons on yield, production, revenue, cost, profit, water efficiency and risk.</a:t>
            </a:r>
            <a:br/>
            <a:r>
              <a:rPr lang="en-US" sz="1900">
                <a:solidFill>
                  <a:srgbClr val="243125"/>
                </a:solidFill>
              </a:rPr>
              <a:t>• Explain patterns through relationships among environmental and input variables.</a:t>
            </a:r>
            <a:br/>
            <a:r>
              <a:rPr lang="en-US" sz="1900">
                <a:solidFill>
                  <a:srgbClr val="243125"/>
                </a:solidFill>
              </a:rPr>
              <a:t>• Use suitable statistics and visualizations.</a:t>
            </a:r>
            <a:br/>
            <a:r>
              <a:rPr lang="en-US" sz="1900">
                <a:solidFill>
                  <a:srgbClr val="243125"/>
                </a:solidFill>
              </a:rPr>
              <a:t>• Make evidence-based, non-causal recommendations.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Dataset profile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4,000 records and 28 columns in the supplied dataset.</a:t>
            </a:r>
            <a:br/>
            <a:r>
              <a:rPr lang="en-US" sz="1900">
                <a:solidFill>
                  <a:srgbClr val="243125"/>
                </a:solidFill>
              </a:rPr>
              <a:t>• Seasons: Kharif, Rabi and Zaid.</a:t>
            </a:r>
            <a:br/>
            <a:r>
              <a:rPr lang="en-US" sz="1900">
                <a:solidFill>
                  <a:srgbClr val="243125"/>
                </a:solidFill>
              </a:rPr>
              <a:t>• Crop categories: Wheat, Maize, Pulses, Rice, Cotton, Groundnut, Chilli and Sugarcane.</a:t>
            </a:r>
            <a:br/>
            <a:r>
              <a:rPr lang="en-US" sz="1900">
                <a:solidFill>
                  <a:srgbClr val="243125"/>
                </a:solidFill>
              </a:rPr>
              <a:t>• Irrigation methods: Drip, Flood, Rainfed and Sprinkler.</a:t>
            </a:r>
            <a:br/>
            <a:r>
              <a:rPr lang="en-US" sz="1900">
                <a:solidFill>
                  <a:srgbClr val="243125"/>
                </a:solidFill>
              </a:rPr>
              <a:t>• Fields cover farm identity, location, environment, inputs, production, economics, water use and disease/pest risk.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Key analytical questions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How does agricultural performance vary across seasons?</a:t>
            </a:r>
            <a:br/>
            <a:r>
              <a:rPr lang="en-US" sz="1900">
                <a:solidFill>
                  <a:srgbClr val="243125"/>
                </a:solidFill>
              </a:rPr>
              <a:t>• Which crops and irrigation methods show stronger yield, profit and water efficiency?</a:t>
            </a:r>
            <a:br/>
            <a:r>
              <a:rPr lang="en-US" sz="1900">
                <a:solidFill>
                  <a:srgbClr val="243125"/>
                </a:solidFill>
              </a:rPr>
              <a:t>• Are resource usage and environmental conditions associated with seasonal outcomes?</a:t>
            </a:r>
            <a:br/>
            <a:r>
              <a:rPr lang="en-US" sz="1900">
                <a:solidFill>
                  <a:srgbClr val="243125"/>
                </a:solidFill>
              </a:rPr>
              <a:t>• How do economic outcomes vary, and how common are negative-profit records?</a:t>
            </a:r>
            <a:br/>
            <a:r>
              <a:rPr lang="en-US" sz="1900">
                <a:solidFill>
                  <a:srgbClr val="243125"/>
                </a:solidFill>
              </a:rPr>
              <a:t>• Are unusual combinations of season, crop, region or risk worth investigating?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Analysis workflow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1. Inspect: schema, row grain, types, missingness and duplicates.</a:t>
            </a:r>
            <a:br/>
            <a:r>
              <a:rPr lang="en-US" sz="1900">
                <a:solidFill>
                  <a:srgbClr val="243125"/>
                </a:solidFill>
              </a:rPr>
              <a:t>2. Prepare: convert numeric fields and document exclusions.</a:t>
            </a:r>
            <a:br/>
            <a:r>
              <a:rPr lang="en-US" sz="1900">
                <a:solidFill>
                  <a:srgbClr val="243125"/>
                </a:solidFill>
              </a:rPr>
              <a:t>3. Compare: season, crop, irrigation and regional summaries.</a:t>
            </a:r>
            <a:br/>
            <a:r>
              <a:rPr lang="en-US" sz="1900">
                <a:solidFill>
                  <a:srgbClr val="243125"/>
                </a:solidFill>
              </a:rPr>
              <a:t>4. Relate: correlations, distributions and risk review.</a:t>
            </a:r>
            <a:br/>
            <a:r>
              <a:rPr lang="en-US" sz="1900">
                <a:solidFill>
                  <a:srgbClr val="243125"/>
                </a:solidFill>
              </a:rPr>
              <a:t>5. Act: interpret carefully and recommend validation.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All calculations are implemented in src/analysis.py and reproduced in the Jupyter notebook.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Data preparation and quality checks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Validate all 28 required columns before analysis.</a:t>
            </a:r>
            <a:br/>
            <a:r>
              <a:rPr lang="en-US" sz="1900">
                <a:solidFill>
                  <a:srgbClr val="243125"/>
                </a:solidFill>
              </a:rPr>
              <a:t>• Parse numeric measures explicitly and record conversion failures as missing values.</a:t>
            </a:r>
            <a:br/>
            <a:r>
              <a:rPr lang="en-US" sz="1900">
                <a:solidFill>
                  <a:srgbClr val="243125"/>
                </a:solidFill>
              </a:rPr>
              <a:t>• Report missing counts and percentages for every column.</a:t>
            </a:r>
            <a:br/>
            <a:r>
              <a:rPr lang="en-US" sz="1900">
                <a:solidFill>
                  <a:srgbClr val="243125"/>
                </a:solidFill>
              </a:rPr>
              <a:t>• Check duplicate Farm_ID values before treating rows as independent observations.</a:t>
            </a:r>
            <a:br/>
            <a:r>
              <a:rPr lang="en-US" sz="1900">
                <a:solidFill>
                  <a:srgbClr val="243125"/>
                </a:solidFill>
              </a:rPr>
              <a:t>• Review negative profit and extreme values as possible signals—not automatically as errors.</a:t>
            </a:r>
            <a:br/>
            <a:r>
              <a:rPr lang="en-US" sz="1900">
                <a:solidFill>
                  <a:srgbClr val="243125"/>
                </a:solidFill>
              </a:rPr>
              <a:t>• Keep observed statistics separate from interpretations; correlations do not prove causation.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Performance comparisons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Season summary: records, mean yield, production, revenue, cost, profit, water efficiency, water use and disease/pest risk.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Irrigation summary: records, mean yield, profit, water efficiency and water used by method.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Crop summary: records, mean yield, mean profit and mean disease/pest risk, ranked for comparison.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The notebook exports CSV tables and chart images so each number is traceable to the input data.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Visualizations used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Bar charts compare average yield and profit across seasons.</a:t>
            </a:r>
            <a:br/>
            <a:r>
              <a:rPr lang="en-US" sz="1900">
                <a:solidFill>
                  <a:srgbClr val="243125"/>
                </a:solidFill>
              </a:rPr>
              <a:t>• Box plots show profit spread, variability and negative-profit observations.</a:t>
            </a:r>
            <a:br/>
            <a:r>
              <a:rPr lang="en-US" sz="1900">
                <a:solidFill>
                  <a:srgbClr val="243125"/>
                </a:solidFill>
              </a:rPr>
              <a:t>• A correlation heatmap inspects relationships among weather, soil, inputs, yield and profit.</a:t>
            </a:r>
            <a:br/>
            <a:r>
              <a:rPr lang="en-US" sz="1900">
                <a:solidFill>
                  <a:srgbClr val="243125"/>
                </a:solidFill>
              </a:rPr>
              <a:t>• Tables retain sample sizes and exact measures alongside visuals.</a:t>
            </a:r>
            <a:br/>
            <a:r>
              <a:rPr lang="en-US" sz="1900">
                <a:solidFill>
                  <a:srgbClr val="243125"/>
                </a:solidFill>
              </a:rPr>
              <a:t>• The Streamlit dashboard filters by season, crop, state and irrigation method.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Interpretation framework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Observed: report counts, distributions, means and associations.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Interpreted: explain plausible operational meaning while labeling uncertainty.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Validated: recommend field checks, cost review or additional data before changing practice.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Final numerical findings are generated automatically when the supplied CSV is placed in the data folder and the notebook is run.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Recommendations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Use seasonal performance tables for crop and input planning, checking whether group sizes are balanced.</a:t>
            </a:r>
            <a:br/>
            <a:r>
              <a:rPr lang="en-US" sz="1900">
                <a:solidFill>
                  <a:srgbClr val="243125"/>
                </a:solidFill>
              </a:rPr>
              <a:t>• Investigate irrigation methods with stronger water efficiency before wider adoption; validate against local water availability and cost.</a:t>
            </a:r>
            <a:br/>
            <a:r>
              <a:rPr lang="en-US" sz="1900">
                <a:solidFill>
                  <a:srgbClr val="243125"/>
                </a:solidFill>
              </a:rPr>
              <a:t>• Flag negative-profit and high disease/pest-risk records for farm-level review.</a:t>
            </a:r>
            <a:br/>
            <a:r>
              <a:rPr lang="en-US" sz="1900">
                <a:solidFill>
                  <a:srgbClr val="243125"/>
                </a:solidFill>
              </a:rPr>
              <a:t>• Use rainfall, soil moisture, seed quality and input data for targeted monitoring—not deterministic prescriptions.</a:t>
            </a:r>
            <a:br/>
            <a:r>
              <a:rPr lang="en-US" sz="1900">
                <a:solidFill>
                  <a:srgbClr val="243125"/>
                </a:solidFill>
              </a:rPr>
              <a:t>• Repeat the analysis on future seasons to test stability.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Project deliverables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Notebook: step-by-step exploration, checks, summaries, charts and conclusions.</a:t>
            </a:r>
            <a:br/>
            <a:r>
              <a:rPr lang="en-US" sz="1900">
                <a:solidFill>
                  <a:srgbClr val="243125"/>
                </a:solidFill>
              </a:rPr>
              <a:t>• Analysis pipeline: reusable Python functions with validation and exportable CSV outputs.</a:t>
            </a:r>
            <a:br/>
            <a:r>
              <a:rPr lang="en-US" sz="1900">
                <a:solidFill>
                  <a:srgbClr val="243125"/>
                </a:solidFill>
              </a:rPr>
              <a:t>• Dashboard: Streamlit filters for season, crop, state and irrigation method.</a:t>
            </a:r>
            <a:br/>
            <a:r>
              <a:rPr lang="en-US" sz="1900">
                <a:solidFill>
                  <a:srgbClr val="243125"/>
                </a:solidFill>
              </a:rPr>
              <a:t>• README: setup, input filename, commands, analytical limits and smoke-test instructions.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/>
          <p:nvPr/>
        </p:nvSpPr>
        <p:spPr>
          <a:xfrm>
            <a:off x="500000" y="350000"/>
            <a:ext cx="108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Conclusion</a:t>
            </a:r>
          </a:p>
        </p:txBody>
      </p:sp>
      <p:sp>
        <p:nvSpPr>
          <p:cNvPr id="4" name="TextBox 4"/>
          <p:cNvSpPr/>
          <p:nvPr/>
        </p:nvSpPr>
        <p:spPr>
          <a:xfrm>
            <a:off x="700000" y="1300000"/>
            <a:ext cx="10800000" cy="4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• Seasonal agriculture performance can be assessed by combining production, economics, environment, resource use and risk indicators.</a:t>
            </a:r>
            <a:br/>
            <a:r>
              <a:rPr lang="en-US" sz="1900">
                <a:solidFill>
                  <a:srgbClr val="243125"/>
                </a:solidFill>
              </a:rPr>
              <a:t>• A quality-first workflow makes comparisons reproducible and reduces errors from malformed or incomplete records.</a:t>
            </a:r>
            <a:br/>
            <a:r>
              <a:rPr lang="en-US" sz="1900">
                <a:solidFill>
                  <a:srgbClr val="243125"/>
                </a:solidFill>
              </a:rPr>
              <a:t>• The notebook and dashboard turn the supplied dataset into evidence-based seasonal planning insights.</a:t>
            </a:r>
          </a:p>
        </p:txBody>
      </p:sp>
      <p:sp>
        <p:nvSpPr>
          <p:cNvPr id="5" name="TextBox 5"/>
          <p:cNvSpPr/>
          <p:nvPr/>
        </p:nvSpPr>
        <p:spPr>
          <a:xfrm>
            <a:off x="500000" y="6500000"/>
            <a:ext cx="110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  •  STU6a30b8115dd5c1781577745  •  Seasonal Agriculture Performance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2800000" cy="6858000"/>
          </a:xfrm>
          <a:prstGeom prst="rect">
            <a:avLst/>
          </a:prstGeom>
          <a:solidFill>
            <a:srgbClr val="1F59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 4"/>
          <p:cNvSpPr/>
          <p:nvPr/>
        </p:nvSpPr>
        <p:spPr>
          <a:xfrm>
            <a:off x="700000" y="900000"/>
            <a:ext cx="10500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3000"/>
            <a:r>
              <a:rPr lang="en-US" sz="3000" b="1">
                <a:solidFill>
                  <a:srgbClr val="1F593E"/>
                </a:solidFill>
              </a:rPr>
              <a:t>Thank you</a:t>
            </a:r>
          </a:p>
        </p:txBody>
      </p:sp>
      <p:sp>
        <p:nvSpPr>
          <p:cNvPr id="5" name="TextBox 5"/>
          <p:cNvSpPr/>
          <p:nvPr/>
        </p:nvSpPr>
        <p:spPr>
          <a:xfrm>
            <a:off x="700000" y="3500000"/>
            <a:ext cx="1050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endParaRPr lang="en-US" sz="1900"/>
            <a:r>
              <a:rPr lang="en-US" sz="1900">
                <a:solidFill>
                  <a:srgbClr val="243125"/>
                </a:solidFill>
              </a:rPr>
              <a:t>Badal Chaudhary</a:t>
            </a:r>
            <a:br/>
            <a:r>
              <a:rPr lang="en-US" sz="1900">
                <a:solidFill>
                  <a:srgbClr val="243125"/>
                </a:solidFill>
              </a:rPr>
              <a:t>Student ID / Roll No.</a:t>
            </a:r>
            <a:br/>
            <a:r>
              <a:rPr lang="en-US" sz="1900">
                <a:solidFill>
                  <a:srgbClr val="243125"/>
                </a:solidFill>
              </a:rPr>
              <a:t>STU6a30b8115dd5c1781577745</a:t>
            </a:r>
            <a:br/>
            <a:r>
              <a:rPr lang="en-US" sz="1900">
                <a:solidFill>
                  <a:srgbClr val="243125"/>
                </a:solidFill>
              </a:rPr>
              <a:t/>
            </a:r>
            <a:br/>
            <a:r>
              <a:rPr lang="en-US" sz="1900">
                <a:solidFill>
                  <a:srgbClr val="243125"/>
                </a:solidFill>
              </a:rPr>
              <a:t>Seasonal Agriculture Performance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Default">
      <a:dk1>
        <a:sysClr val="windowText" lastClr="000000"/>
      </a:dk1>
      <a:lt1>
        <a:sysClr val="window" lastClr="FFFFFF"/>
      </a:lt1>
      <a:dk2>
        <a:srgbClr val="243125"/>
      </a:dk2>
      <a:lt2>
        <a:srgbClr val="F7FAF6"/>
      </a:lt2>
      <a:accent1>
        <a:srgbClr val="1F593E"/>
      </a:accent1>
      <a:accent2>
        <a:srgbClr val="C28727"/>
      </a:accent2>
      <a:accent3>
        <a:srgbClr val="5C8C65"/>
      </a:accent3>
      <a:accent4>
        <a:srgbClr val="90CDF4"/>
      </a:accent4>
      <a:accent5>
        <a:srgbClr val="D69E2E"/>
      </a:accent5>
      <a:accent6>
        <a:srgbClr val="718096"/>
      </a:accent6>
      <a:hlink>
        <a:srgbClr val="0563C1"/>
      </a:hlink>
      <a:folHlink>
        <a:srgbClr val="954F72"/>
      </a:folHlink>
    </a:clrScheme>
    <a:fontScheme name="Default">
      <a:majorFont>
        <a:latin typeface="Aptos Display"/>
      </a:majorFont>
      <a:minorFont>
        <a:latin typeface="Aptos"/>
      </a:minorFont>
    </a:fontScheme>
    <a:fmtScheme name="Default">
      <a:fillStyleLst/>
      <a:lnStyleLst/>
      <a:effectStyleLst/>
      <a:bgFillStyleLst/>
    </a:fmtScheme>
  </a:themeElements>
</a:theme>
</file>